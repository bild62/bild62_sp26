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61" r:id="rId7"/>
    <p:sldId id="258" r:id="rId8"/>
    <p:sldId id="262" r:id="rId9"/>
    <p:sldId id="263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94" r:id="rId18"/>
    <p:sldId id="272" r:id="rId19"/>
    <p:sldId id="273" r:id="rId20"/>
    <p:sldId id="274" r:id="rId21"/>
    <p:sldId id="275" r:id="rId22"/>
    <p:sldId id="276" r:id="rId23"/>
    <p:sldId id="286" r:id="rId24"/>
    <p:sldId id="295" r:id="rId25"/>
    <p:sldId id="296" r:id="rId26"/>
    <p:sldId id="299" r:id="rId27"/>
    <p:sldId id="278" r:id="rId28"/>
    <p:sldId id="277" r:id="rId29"/>
    <p:sldId id="279" r:id="rId30"/>
    <p:sldId id="297" r:id="rId31"/>
    <p:sldId id="280" r:id="rId32"/>
    <p:sldId id="281" r:id="rId33"/>
    <p:sldId id="298" r:id="rId34"/>
    <p:sldId id="28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3130"/>
    <a:srgbClr val="96607D"/>
    <a:srgbClr val="E76F51"/>
    <a:srgbClr val="2A9D8F"/>
    <a:srgbClr val="4A4A4A"/>
    <a:srgbClr val="3E3E41"/>
    <a:srgbClr val="36454F"/>
    <a:srgbClr val="F2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28"/>
  </p:normalViewPr>
  <p:slideViewPr>
    <p:cSldViewPr snapToGrid="0">
      <p:cViewPr varScale="1">
        <p:scale>
          <a:sx n="55" d="100"/>
          <a:sy n="55" d="100"/>
        </p:scale>
        <p:origin x="216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6213-A62F-E63D-5C9B-78F08E1D3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BC16E-5733-6716-7ED5-F32837340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D55B-934D-4B87-B6E6-ABE7BB0A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5F89D-13BE-47D0-1000-5A14EEBC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071A1-67D5-3609-9B53-1C4E6761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9ABF-BB1C-0F3C-9C2E-A7F43191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7513-4873-5BDC-5C82-72D554533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74DB1-B9D9-78CB-7C6B-DB412822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A204-D1A5-2A41-A383-B30FBB8C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98550-ED0E-C439-26D2-DF7A525C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8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42BB-7ED8-EBA1-729A-7401D028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8EDD5-6E7A-0E21-D6F9-C65422ED0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4017-3235-B16F-9C9B-A53C94F9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01153-B11C-56CA-D2EF-67AD3D7B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4F8C-0D5E-18D0-9F39-9F726262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0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B0B2-C47D-88C6-4F1D-1766C68F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EFA0-80CA-74AE-78AF-E4EDE24F7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00A63-C13A-5D6A-A140-3A2A60C3A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59286-BD03-EBF2-3338-7838973C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3B4D-B5DD-2451-5127-922F0209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6DE09-C025-8DB3-0ADC-864EE2A5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03FE-6ADA-25C8-DAF0-C8D8822B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8F71-5033-307F-284F-483BEC9B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C3167-DD83-A2DA-E31D-D8243F0C7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3990C-10A5-3418-2693-0DFCF8F61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5D0E4-BA2B-B398-0999-D56A4E5CE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AA14C-0AA1-490C-E519-F63A3290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B2D05E-D142-F2B7-884D-051E4597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EB2E-FD9B-F699-33D2-9CDFB9DC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9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57C7-5A77-51C2-BF56-2FF1FCC7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8E46-1177-CE01-D790-501DCA27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EFF8C-A663-561D-B1FC-4F3CEA98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239C3-0120-9099-0ADD-A8E6E1CE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0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DAAE7-F48E-5AC1-4069-F8EB6B8A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3E1DE-950F-AF40-2805-57F3A8DB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C5EB9-76FF-F312-C8C5-068B1BA4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13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012C-655A-882E-5ECB-FA907387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01B01-4AD3-D6E3-4F7D-1840ADC6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D1270-30E4-3F32-0E8B-0C7ACB56F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C3DD-94B5-71D8-DA7C-17D25C5F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D11F-6CAA-4728-8DB1-B7D96985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D446-0117-278B-5D1B-8CCFA14E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587D-2B6B-1C43-C0CE-4C47ACCD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3D0BF-5D18-820B-BD1F-62BD794E9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08130-8FAF-57D1-D40F-1B697A89F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87330-C84F-CC3B-6847-A55C7709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5FCCA-6536-64E5-A080-F95933D7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2CF4-103B-C2AA-E2C1-F02E71A2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879C-B559-097B-D818-6C7460BD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AB8D4-56F6-2F15-68C9-B444FC6C9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FEE87-8EBC-C62E-C533-B4DC4E9D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A81B-496E-9940-6DF7-F0255F38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0BB3-19EC-5ACB-3937-D491BC25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0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F74A5-27D8-82A6-3529-6A925E01F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59558-32EB-71D3-099E-3DC69E0EB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84221-1376-1C80-2F79-5247303A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6E-6508-524F-9F72-F783F4A9A61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A4D8-29C5-4AC9-7E00-2300D46A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AA55-07F7-8BC1-E184-CC0FFBB0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D56F-4DAF-414B-9295-2F77EE51F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FED3A-E1A3-B12B-E4A8-F62531A4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D5A8F-5FF2-8917-81F2-929D250B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D4057-8B34-6962-84CE-19F2C0FF2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fld id="{D060B66E-6508-524F-9F72-F783F4A9A610}" type="datetimeFigureOut">
              <a:rPr lang="en-US" smtClean="0"/>
              <a:pPr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C016A-E618-342B-541C-FC02A8B24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5E1FF-6A4E-960A-1CE9-34CC502DB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A4A4A"/>
                </a:solidFill>
                <a:latin typeface=""/>
              </a:defRPr>
            </a:lvl1pPr>
          </a:lstStyle>
          <a:p>
            <a:fld id="{FB59D56F-4DAF-414B-9295-2F77EE51FA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8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A4A4A"/>
          </a:solidFill>
          <a:latin typeface="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cluster.KMeans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5632F-3099-1805-C5DF-F59534601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9485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Clustering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9200D-E36A-40AC-9768-89F56B925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3655"/>
            <a:ext cx="9144000" cy="1714242"/>
          </a:xfrm>
        </p:spPr>
        <p:txBody>
          <a:bodyPr/>
          <a:lstStyle/>
          <a:p>
            <a:r>
              <a:rPr lang="en-US" dirty="0"/>
              <a:t>Aalok Varma, PhD</a:t>
            </a:r>
          </a:p>
          <a:p>
            <a:r>
              <a:rPr lang="en-US" sz="1800" dirty="0"/>
              <a:t>[pronounced </a:t>
            </a:r>
            <a:r>
              <a:rPr lang="en-US" sz="1800" i="1" dirty="0"/>
              <a:t>ah-l-oak</a:t>
            </a:r>
            <a:r>
              <a:rPr lang="en-US" sz="1800" dirty="0"/>
              <a:t>]</a:t>
            </a:r>
          </a:p>
          <a:p>
            <a:r>
              <a:rPr lang="en-US" dirty="0"/>
              <a:t>Postdoctoral Fellow, Loren </a:t>
            </a:r>
            <a:r>
              <a:rPr lang="en-US" dirty="0" err="1"/>
              <a:t>Looger</a:t>
            </a:r>
            <a:r>
              <a:rPr lang="en-US" dirty="0"/>
              <a:t> Lab,</a:t>
            </a:r>
          </a:p>
          <a:p>
            <a:r>
              <a:rPr lang="en-US" dirty="0"/>
              <a:t>Neuroscience Dept, UC San Diego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6CB60F-014F-269A-85A1-BC642720C7B6}"/>
              </a:ext>
            </a:extLst>
          </p:cNvPr>
          <p:cNvCxnSpPr>
            <a:cxnSpLocks/>
          </p:cNvCxnSpPr>
          <p:nvPr/>
        </p:nvCxnSpPr>
        <p:spPr>
          <a:xfrm>
            <a:off x="-106326" y="2267658"/>
            <a:ext cx="12397563" cy="0"/>
          </a:xfrm>
          <a:prstGeom prst="line">
            <a:avLst/>
          </a:prstGeom>
          <a:ln w="571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566350B4-5FCA-6EDC-EFCD-47440F55588D}"/>
              </a:ext>
            </a:extLst>
          </p:cNvPr>
          <p:cNvSpPr txBox="1">
            <a:spLocks/>
          </p:cNvSpPr>
          <p:nvPr/>
        </p:nvSpPr>
        <p:spPr>
          <a:xfrm>
            <a:off x="1676400" y="2422459"/>
            <a:ext cx="9144000" cy="1006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4A4A4A"/>
                </a:solidFill>
                <a:latin typeface="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BILD62/WI26</a:t>
            </a:r>
          </a:p>
          <a:p>
            <a:r>
              <a:rPr lang="en-US" dirty="0"/>
              <a:t>May 19, 2026</a:t>
            </a:r>
          </a:p>
        </p:txBody>
      </p:sp>
    </p:spTree>
    <p:extLst>
      <p:ext uri="{BB962C8B-B14F-4D97-AF65-F5344CB8AC3E}">
        <p14:creationId xmlns:p14="http://schemas.microsoft.com/office/powerpoint/2010/main" val="47233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CDF1-D597-302A-C471-BFA10082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 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251E-A13A-68AC-60DA-22F13C0BF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F0B025-3306-F96E-AB20-56F6A434FAD9}"/>
              </a:ext>
            </a:extLst>
          </p:cNvPr>
          <p:cNvCxnSpPr>
            <a:cxnSpLocks/>
          </p:cNvCxnSpPr>
          <p:nvPr/>
        </p:nvCxnSpPr>
        <p:spPr>
          <a:xfrm>
            <a:off x="-106326" y="4562475"/>
            <a:ext cx="12397563" cy="0"/>
          </a:xfrm>
          <a:prstGeom prst="line">
            <a:avLst/>
          </a:prstGeom>
          <a:ln w="571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08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india with a route&#10;&#10;AI-generated content may be incorrect.">
            <a:extLst>
              <a:ext uri="{FF2B5EF4-FFF2-40B4-BE49-F238E27FC236}">
                <a16:creationId xmlns:a16="http://schemas.microsoft.com/office/drawing/2014/main" id="{3F52B07D-DBD4-3899-CD84-AF5F66B5C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6311" y="14372"/>
            <a:ext cx="6059378" cy="68292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75C29-972F-0458-1C6E-4C88C75AE464}"/>
              </a:ext>
            </a:extLst>
          </p:cNvPr>
          <p:cNvSpPr txBox="1"/>
          <p:nvPr/>
        </p:nvSpPr>
        <p:spPr>
          <a:xfrm>
            <a:off x="744279" y="3428999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Where I grew up</a:t>
            </a:r>
          </a:p>
          <a:p>
            <a:pPr algn="ctr"/>
            <a:r>
              <a:rPr lang="en-US" dirty="0">
                <a:latin typeface=""/>
              </a:rPr>
              <a:t>(Mumbai)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1C38F-9A87-2B3F-F621-C9C410559D6A}"/>
              </a:ext>
            </a:extLst>
          </p:cNvPr>
          <p:cNvSpPr txBox="1"/>
          <p:nvPr/>
        </p:nvSpPr>
        <p:spPr>
          <a:xfrm>
            <a:off x="979265" y="4793512"/>
            <a:ext cx="2087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Bachelor’s Degree</a:t>
            </a:r>
          </a:p>
          <a:p>
            <a:pPr algn="ctr"/>
            <a:r>
              <a:rPr lang="en-US" dirty="0">
                <a:latin typeface=""/>
              </a:rPr>
              <a:t>(Manipal)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499B-7B8F-0C26-090F-380F6C5798EA}"/>
              </a:ext>
            </a:extLst>
          </p:cNvPr>
          <p:cNvSpPr txBox="1"/>
          <p:nvPr/>
        </p:nvSpPr>
        <p:spPr>
          <a:xfrm>
            <a:off x="6690944" y="4689050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PhD</a:t>
            </a:r>
          </a:p>
          <a:p>
            <a:pPr algn="ctr"/>
            <a:r>
              <a:rPr lang="en-US" dirty="0">
                <a:latin typeface=""/>
              </a:rPr>
              <a:t>(Bangalore)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9DF8FC-665D-2AEA-0D23-81B77ABB18E1}"/>
              </a:ext>
            </a:extLst>
          </p:cNvPr>
          <p:cNvCxnSpPr>
            <a:stCxn id="6" idx="3"/>
          </p:cNvCxnSpPr>
          <p:nvPr/>
        </p:nvCxnSpPr>
        <p:spPr>
          <a:xfrm>
            <a:off x="2621716" y="3752165"/>
            <a:ext cx="1354861" cy="2882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311989-2E2F-C9D8-2A36-EEE3646028BA}"/>
              </a:ext>
            </a:extLst>
          </p:cNvPr>
          <p:cNvCxnSpPr>
            <a:cxnSpLocks/>
          </p:cNvCxnSpPr>
          <p:nvPr/>
        </p:nvCxnSpPr>
        <p:spPr>
          <a:xfrm>
            <a:off x="3066311" y="5012216"/>
            <a:ext cx="1537587" cy="3359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32EE50-B52F-E20E-E93C-B84D52BA1306}"/>
              </a:ext>
            </a:extLst>
          </p:cNvPr>
          <p:cNvCxnSpPr>
            <a:cxnSpLocks/>
          </p:cNvCxnSpPr>
          <p:nvPr/>
        </p:nvCxnSpPr>
        <p:spPr>
          <a:xfrm flipH="1">
            <a:off x="5378190" y="4897399"/>
            <a:ext cx="1537587" cy="50822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1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4FEE-4C74-04D1-1C81-D4BA1BF1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49" y="365125"/>
            <a:ext cx="1200770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National Centre for Biological Sciences (NCBS)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399C-4940-FA66-98F0-0D7DD8A9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ome | NCBS">
            <a:extLst>
              <a:ext uri="{FF2B5EF4-FFF2-40B4-BE49-F238E27FC236}">
                <a16:creationId xmlns:a16="http://schemas.microsoft.com/office/drawing/2014/main" id="{E6355E47-12E3-EB86-E981-942947ADB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9294"/>
            <a:ext cx="12192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2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5305DDF-F110-30C9-AF64-EAF47B410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060" y="714862"/>
            <a:ext cx="1739857" cy="527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EE57F-45D1-A3EE-7901-5DED08EA2ACA}"/>
              </a:ext>
            </a:extLst>
          </p:cNvPr>
          <p:cNvSpPr txBox="1"/>
          <p:nvPr/>
        </p:nvSpPr>
        <p:spPr>
          <a:xfrm>
            <a:off x="1400907" y="6117884"/>
            <a:ext cx="246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9-day-old</a:t>
            </a:r>
          </a:p>
          <a:p>
            <a:pPr algn="ctr"/>
            <a:r>
              <a:rPr lang="en-US" dirty="0">
                <a:latin typeface=""/>
              </a:rPr>
              <a:t>zebrafish (</a:t>
            </a:r>
            <a:r>
              <a:rPr lang="en-US" i="1" dirty="0">
                <a:latin typeface=""/>
              </a:rPr>
              <a:t>Danio rerio</a:t>
            </a:r>
            <a:r>
              <a:rPr lang="en-US" dirty="0">
                <a:latin typeface=""/>
              </a:rPr>
              <a:t>)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9005EA0-6E2E-4FC1-7AFF-2D80563D33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2" t="8547" r="20673" b="7693"/>
          <a:stretch>
            <a:fillRect/>
          </a:stretch>
        </p:blipFill>
        <p:spPr bwMode="auto">
          <a:xfrm>
            <a:off x="3993191" y="714862"/>
            <a:ext cx="7096840" cy="527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82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F59D-AC1F-4690-3DC4-CA156D9A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Zebrafish Purkinje neurons are bistable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63EE6F-8759-D51E-F293-FAF4D843F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024" y="1334723"/>
            <a:ext cx="7737230" cy="515815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2E7F297-2A8A-7DB2-9D50-7726760D0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46" y="1690688"/>
            <a:ext cx="3309824" cy="186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ow Does a Light Switch Work?">
            <a:extLst>
              <a:ext uri="{FF2B5EF4-FFF2-40B4-BE49-F238E27FC236}">
                <a16:creationId xmlns:a16="http://schemas.microsoft.com/office/drawing/2014/main" id="{67581BF5-14A7-4A8C-5F99-AEF0FAC9A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46" y="3784845"/>
            <a:ext cx="3309824" cy="247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60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B25E-5C72-4CDE-2C07-49BC614B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69D98C11-BB26-D875-CF54-768487473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94"/>
          <a:stretch>
            <a:fillRect/>
          </a:stretch>
        </p:blipFill>
        <p:spPr>
          <a:xfrm>
            <a:off x="0" y="-212907"/>
            <a:ext cx="12192000" cy="76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6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DE938-A239-7CFB-582F-31F5ED43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0" y="365125"/>
            <a:ext cx="11295676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What I’m working on for my postdoc in the </a:t>
            </a:r>
            <a:r>
              <a:rPr lang="en-US" sz="3600" dirty="0" err="1"/>
              <a:t>Looger</a:t>
            </a:r>
            <a:r>
              <a:rPr lang="en-US" sz="3600" dirty="0"/>
              <a:t> 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30902-C418-66B3-595D-60750D09A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556" y="1681163"/>
            <a:ext cx="5157787" cy="569668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en-US" sz="2000" dirty="0"/>
              <a:t>1. Biological effects of climate change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5115B6-847F-84DB-F623-52699E154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9062" y="1690688"/>
            <a:ext cx="5183188" cy="569668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en-US" sz="2000" dirty="0"/>
              <a:t>2. Next generation model organisms</a:t>
            </a:r>
            <a:br>
              <a:rPr lang="en-US" sz="2000" dirty="0"/>
            </a:br>
            <a:r>
              <a:rPr lang="en-US" sz="2000" i="1" dirty="0"/>
              <a:t>Cephalopods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A90A8-4D20-06D2-A69F-61D1139287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47" b="2318"/>
          <a:stretch/>
        </p:blipFill>
        <p:spPr>
          <a:xfrm>
            <a:off x="6779040" y="2386256"/>
            <a:ext cx="2983298" cy="3543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AA8B2A-87FE-FA9D-760F-78CDB7EE5122}"/>
              </a:ext>
            </a:extLst>
          </p:cNvPr>
          <p:cNvSpPr txBox="1"/>
          <p:nvPr/>
        </p:nvSpPr>
        <p:spPr>
          <a:xfrm>
            <a:off x="6692266" y="6033375"/>
            <a:ext cx="3070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err="1">
                <a:latin typeface=""/>
              </a:rPr>
              <a:t>Euprymna</a:t>
            </a:r>
            <a:r>
              <a:rPr lang="en-US" i="1" dirty="0">
                <a:latin typeface=""/>
              </a:rPr>
              <a:t> </a:t>
            </a:r>
            <a:r>
              <a:rPr lang="en-US" i="1" dirty="0" err="1">
                <a:latin typeface=""/>
              </a:rPr>
              <a:t>berryi</a:t>
            </a:r>
            <a:endParaRPr lang="en-US" i="1" dirty="0">
              <a:latin typeface=""/>
            </a:endParaRPr>
          </a:p>
          <a:p>
            <a:pPr algn="ctr"/>
            <a:r>
              <a:rPr lang="en-US" dirty="0">
                <a:latin typeface=""/>
              </a:rPr>
              <a:t>(Hummingbird bobtail squid)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9CC40-E74E-B5D1-DE3B-3BFD03EAD891}"/>
              </a:ext>
            </a:extLst>
          </p:cNvPr>
          <p:cNvSpPr txBox="1"/>
          <p:nvPr/>
        </p:nvSpPr>
        <p:spPr>
          <a:xfrm>
            <a:off x="9660537" y="6033374"/>
            <a:ext cx="2531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err="1">
                <a:latin typeface=""/>
              </a:rPr>
              <a:t>Doryteuthis</a:t>
            </a:r>
            <a:r>
              <a:rPr lang="en-US" i="1" dirty="0">
                <a:latin typeface=""/>
              </a:rPr>
              <a:t> </a:t>
            </a:r>
            <a:r>
              <a:rPr lang="en-US" i="1" dirty="0" err="1">
                <a:latin typeface=""/>
              </a:rPr>
              <a:t>pealeii</a:t>
            </a:r>
            <a:endParaRPr lang="en-US" i="1" dirty="0">
              <a:latin typeface=""/>
            </a:endParaRPr>
          </a:p>
          <a:p>
            <a:pPr algn="ctr"/>
            <a:r>
              <a:rPr lang="en-US" dirty="0">
                <a:latin typeface=""/>
              </a:rPr>
              <a:t>(Longfin inshore squid)</a:t>
            </a:r>
          </a:p>
        </p:txBody>
      </p:sp>
      <p:pic>
        <p:nvPicPr>
          <p:cNvPr id="12" name="Picture 11" descr="A transparent object with red dots&#10;&#10;Description automatically generated">
            <a:extLst>
              <a:ext uri="{FF2B5EF4-FFF2-40B4-BE49-F238E27FC236}">
                <a16:creationId xmlns:a16="http://schemas.microsoft.com/office/drawing/2014/main" id="{921BAF9E-C12C-0290-1148-8C33CE15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591" y="2386256"/>
            <a:ext cx="1529353" cy="3543300"/>
          </a:xfrm>
          <a:prstGeom prst="rect">
            <a:avLst/>
          </a:prstGeom>
        </p:spPr>
      </p:pic>
      <p:pic>
        <p:nvPicPr>
          <p:cNvPr id="3076" name="Picture 4" descr="MRI Brain scan">
            <a:extLst>
              <a:ext uri="{FF2B5EF4-FFF2-40B4-BE49-F238E27FC236}">
                <a16:creationId xmlns:a16="http://schemas.microsoft.com/office/drawing/2014/main" id="{E3975791-87D3-CB4B-2C12-09BDCC9F5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87" y="2386256"/>
            <a:ext cx="59055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4F24A6-EA7A-9B47-37F2-B64ED1480C9F}"/>
              </a:ext>
            </a:extLst>
          </p:cNvPr>
          <p:cNvSpPr txBox="1"/>
          <p:nvPr/>
        </p:nvSpPr>
        <p:spPr>
          <a:xfrm>
            <a:off x="0" y="638515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latin typeface=""/>
              </a:rPr>
              <a:t>https://</a:t>
            </a:r>
            <a:r>
              <a:rPr lang="en-US" sz="1100" i="1" dirty="0" err="1">
                <a:latin typeface=""/>
              </a:rPr>
              <a:t>www.theguardian.com</a:t>
            </a:r>
            <a:r>
              <a:rPr lang="en-US" sz="1100" i="1" dirty="0">
                <a:latin typeface=""/>
              </a:rPr>
              <a:t>/sustainable-business/2014/</a:t>
            </a:r>
            <a:r>
              <a:rPr lang="en-US" sz="1100" i="1" dirty="0" err="1">
                <a:latin typeface=""/>
              </a:rPr>
              <a:t>nov</a:t>
            </a:r>
            <a:r>
              <a:rPr lang="en-US" sz="1100" i="1" dirty="0">
                <a:latin typeface=""/>
              </a:rPr>
              <a:t>/10/brain-climate-change-science-psychology-environment-elections</a:t>
            </a:r>
          </a:p>
        </p:txBody>
      </p:sp>
    </p:spTree>
    <p:extLst>
      <p:ext uri="{BB962C8B-B14F-4D97-AF65-F5344CB8AC3E}">
        <p14:creationId xmlns:p14="http://schemas.microsoft.com/office/powerpoint/2010/main" val="316176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F38D8A-957D-6B53-B580-039B3E71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lecture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FC62A5-4FD0-B6D3-35AC-A178A0A66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29A675-1C66-7E46-EDCE-F90B5FD49AE5}"/>
              </a:ext>
            </a:extLst>
          </p:cNvPr>
          <p:cNvCxnSpPr>
            <a:cxnSpLocks/>
          </p:cNvCxnSpPr>
          <p:nvPr/>
        </p:nvCxnSpPr>
        <p:spPr>
          <a:xfrm>
            <a:off x="-106326" y="4562475"/>
            <a:ext cx="12397563" cy="0"/>
          </a:xfrm>
          <a:prstGeom prst="line">
            <a:avLst/>
          </a:prstGeom>
          <a:ln w="57150">
            <a:solidFill>
              <a:srgbClr val="966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9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68437E-D17B-7A3A-AC1B-6E86A5D1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EE6662-4E79-DAF6-5693-84949AE6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Recognize two common methods of clustering – hierarchical clustering and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  <a:p>
            <a:pPr fontAlgn="base"/>
            <a:r>
              <a:rPr lang="en-US" dirty="0"/>
              <a:t>Explain how the hierarchical clustering algorithm works</a:t>
            </a:r>
          </a:p>
          <a:p>
            <a:pPr fontAlgn="base"/>
            <a:r>
              <a:rPr lang="en-US" dirty="0"/>
              <a:t>Explain how the </a:t>
            </a:r>
            <a:r>
              <a:rPr lang="en-US" i="1" dirty="0"/>
              <a:t>k</a:t>
            </a:r>
            <a:r>
              <a:rPr lang="en-US" dirty="0"/>
              <a:t>-means clustering algorithm works</a:t>
            </a:r>
          </a:p>
          <a:p>
            <a:pPr fontAlgn="base"/>
            <a:r>
              <a:rPr lang="en-US" dirty="0"/>
              <a:t>Compare the speed and complexity of the two clustering algorithms</a:t>
            </a:r>
          </a:p>
          <a:p>
            <a:pPr fontAlgn="base"/>
            <a:r>
              <a:rPr lang="en-US" dirty="0"/>
              <a:t>Identify the limitations of each clustering algorithm</a:t>
            </a:r>
          </a:p>
          <a:p>
            <a:pPr fontAlgn="base"/>
            <a:r>
              <a:rPr lang="en-US" dirty="0"/>
              <a:t>Apply </a:t>
            </a:r>
            <a:r>
              <a:rPr lang="en-US" i="1" dirty="0"/>
              <a:t>k</a:t>
            </a:r>
            <a:r>
              <a:rPr lang="en-US" dirty="0"/>
              <a:t>-means clustering to data using the </a:t>
            </a:r>
            <a:r>
              <a:rPr lang="en-US" i="1" dirty="0" err="1"/>
              <a:t>sklearn</a:t>
            </a:r>
            <a:r>
              <a:rPr lang="en-US" dirty="0"/>
              <a:t> package in Python</a:t>
            </a:r>
          </a:p>
          <a:p>
            <a:pPr fontAlgn="base"/>
            <a:r>
              <a:rPr lang="en-US" dirty="0"/>
              <a:t>Interpret results from clustering analysis</a:t>
            </a:r>
          </a:p>
        </p:txBody>
      </p:sp>
    </p:spTree>
    <p:extLst>
      <p:ext uri="{BB962C8B-B14F-4D97-AF65-F5344CB8AC3E}">
        <p14:creationId xmlns:p14="http://schemas.microsoft.com/office/powerpoint/2010/main" val="113544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F101C-A22C-D230-5CA2-17E6ADB5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6726"/>
            <a:ext cx="10515600" cy="2852737"/>
          </a:xfrm>
        </p:spPr>
        <p:txBody>
          <a:bodyPr anchor="ctr"/>
          <a:lstStyle/>
          <a:p>
            <a:pPr algn="ctr"/>
            <a:r>
              <a:rPr lang="en-US" dirty="0"/>
              <a:t>Do you know John Snow?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C79618-D573-32DA-1592-052838982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2E4194-5CF0-40A3-8A8B-EE5D6ABAF2B1}"/>
              </a:ext>
            </a:extLst>
          </p:cNvPr>
          <p:cNvCxnSpPr>
            <a:cxnSpLocks/>
          </p:cNvCxnSpPr>
          <p:nvPr/>
        </p:nvCxnSpPr>
        <p:spPr>
          <a:xfrm>
            <a:off x="1289538" y="3753582"/>
            <a:ext cx="9437077" cy="0"/>
          </a:xfrm>
          <a:prstGeom prst="line">
            <a:avLst/>
          </a:prstGeom>
          <a:ln w="571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3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FFD39D5-8C6E-9C21-426E-AF925D1C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0" y="1471124"/>
            <a:ext cx="2667406" cy="391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C068F5-2D15-10A3-39AC-996F18B5DB19}"/>
              </a:ext>
            </a:extLst>
          </p:cNvPr>
          <p:cNvSpPr txBox="1"/>
          <p:nvPr/>
        </p:nvSpPr>
        <p:spPr>
          <a:xfrm>
            <a:off x="1703889" y="5459779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John Snow</a:t>
            </a:r>
          </a:p>
          <a:p>
            <a:pPr algn="ctr"/>
            <a:r>
              <a:rPr lang="en-US" dirty="0">
                <a:latin typeface=""/>
              </a:rPr>
              <a:t>1813 – 1858</a:t>
            </a:r>
          </a:p>
        </p:txBody>
      </p:sp>
      <p:pic>
        <p:nvPicPr>
          <p:cNvPr id="5126" name="Picture 6" descr="undefined">
            <a:extLst>
              <a:ext uri="{FF2B5EF4-FFF2-40B4-BE49-F238E27FC236}">
                <a16:creationId xmlns:a16="http://schemas.microsoft.com/office/drawing/2014/main" id="{3395E8BC-6E2B-BC3F-03BC-BAF5265A1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461" y="510826"/>
            <a:ext cx="6221384" cy="5836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0C8A4B-7121-1823-64F9-57501822BAF0}"/>
              </a:ext>
            </a:extLst>
          </p:cNvPr>
          <p:cNvSpPr txBox="1"/>
          <p:nvPr/>
        </p:nvSpPr>
        <p:spPr>
          <a:xfrm>
            <a:off x="4873531" y="6347174"/>
            <a:ext cx="648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The original map of clusters of cholera cases in London, 1854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2625A-C4E6-295B-ABA3-8F0F721AFCDD}"/>
              </a:ext>
            </a:extLst>
          </p:cNvPr>
          <p:cNvSpPr txBox="1"/>
          <p:nvPr/>
        </p:nvSpPr>
        <p:spPr>
          <a:xfrm>
            <a:off x="-1" y="6502138"/>
            <a:ext cx="3059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"/>
              </a:rPr>
              <a:t>Image 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62929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CDB0-7696-03BD-4B19-61D478DB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Modern clustering looks very different</a:t>
            </a:r>
          </a:p>
        </p:txBody>
      </p:sp>
      <p:pic>
        <p:nvPicPr>
          <p:cNvPr id="7" name="Picture 6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AD979AAD-05DD-3269-ECC2-53A4740A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28" y="1432657"/>
            <a:ext cx="9098543" cy="5165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876E80-3578-3432-AA72-A20770DBF81D}"/>
              </a:ext>
            </a:extLst>
          </p:cNvPr>
          <p:cNvSpPr/>
          <p:nvPr/>
        </p:nvSpPr>
        <p:spPr>
          <a:xfrm>
            <a:off x="6318738" y="1432657"/>
            <a:ext cx="4326533" cy="4815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72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F5DB-F82B-B697-A4DA-EA4D86A9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5C7D-006F-FE55-BC27-ECFDB243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Modern clustering looks very different</a:t>
            </a:r>
          </a:p>
        </p:txBody>
      </p:sp>
      <p:pic>
        <p:nvPicPr>
          <p:cNvPr id="7" name="Picture 6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2FCD454C-D29F-1ED6-1C8D-A220B7929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28" y="1432657"/>
            <a:ext cx="9098543" cy="516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FA197D-FDD5-CF27-E13D-DEA1B3ED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-1617121"/>
            <a:ext cx="10515600" cy="2852737"/>
          </a:xfrm>
        </p:spPr>
        <p:txBody>
          <a:bodyPr/>
          <a:lstStyle/>
          <a:p>
            <a:r>
              <a:rPr lang="en-US" dirty="0"/>
              <a:t>Think-Pair-Share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9B29F-7E19-225F-528F-C3738CA74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62604"/>
            <a:ext cx="1051560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Q: How would you go from </a:t>
            </a:r>
            <a:r>
              <a:rPr lang="en-US" sz="2800" dirty="0" err="1"/>
              <a:t>unlabelled</a:t>
            </a:r>
            <a:r>
              <a:rPr lang="en-US" sz="2800" dirty="0"/>
              <a:t> to labelled data?</a:t>
            </a:r>
          </a:p>
          <a:p>
            <a:r>
              <a:rPr lang="en-US" sz="2800" dirty="0"/>
              <a:t>What ingredients would you need?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1C330E-ED42-BC31-17BB-8DFF06915CE7}"/>
              </a:ext>
            </a:extLst>
          </p:cNvPr>
          <p:cNvCxnSpPr>
            <a:cxnSpLocks/>
          </p:cNvCxnSpPr>
          <p:nvPr/>
        </p:nvCxnSpPr>
        <p:spPr>
          <a:xfrm>
            <a:off x="-106326" y="1235616"/>
            <a:ext cx="12397563" cy="0"/>
          </a:xfrm>
          <a:prstGeom prst="line">
            <a:avLst/>
          </a:prstGeom>
          <a:ln w="571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920F7534-944E-0247-C92A-49EEF93D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24" y="2515171"/>
            <a:ext cx="7649152" cy="434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02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E75F0-5176-C3BC-2914-E553843E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ingredients for clustering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6A8E9-A31E-2C9E-9A92-0878D2991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way to define the limits of a cluster</a:t>
            </a:r>
          </a:p>
          <a:p>
            <a:pPr lvl="1"/>
            <a:r>
              <a:rPr lang="en-US" dirty="0"/>
              <a:t>Boundary?</a:t>
            </a:r>
          </a:p>
          <a:p>
            <a:pPr lvl="1"/>
            <a:r>
              <a:rPr lang="en-US" dirty="0"/>
              <a:t>Centre?</a:t>
            </a:r>
          </a:p>
          <a:p>
            <a:r>
              <a:rPr lang="en-US" dirty="0"/>
              <a:t>Some way to group points into clusters</a:t>
            </a:r>
          </a:p>
          <a:p>
            <a:pPr lvl="1"/>
            <a:r>
              <a:rPr lang="en-US" dirty="0"/>
              <a:t>Distance between points</a:t>
            </a:r>
          </a:p>
          <a:p>
            <a:pPr lvl="1"/>
            <a:r>
              <a:rPr lang="en-US" dirty="0"/>
              <a:t>Distance from points to cluster limits</a:t>
            </a:r>
          </a:p>
          <a:p>
            <a:pPr lvl="1"/>
            <a:r>
              <a:rPr lang="en-US" dirty="0"/>
              <a:t>Thresholds?</a:t>
            </a:r>
          </a:p>
        </p:txBody>
      </p:sp>
    </p:spTree>
    <p:extLst>
      <p:ext uri="{BB962C8B-B14F-4D97-AF65-F5344CB8AC3E}">
        <p14:creationId xmlns:p14="http://schemas.microsoft.com/office/powerpoint/2010/main" val="175061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A320D-AA7A-C163-B4DC-4F17A817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80763-A214-505B-F3CE-851AD4F3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57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Algorithm 1 – Hierarchical Clustering</a:t>
            </a:r>
          </a:p>
        </p:txBody>
      </p:sp>
      <p:pic>
        <p:nvPicPr>
          <p:cNvPr id="4" name="Picture 3" descr="a phylogenetic tree: link to extended description below">
            <a:extLst>
              <a:ext uri="{FF2B5EF4-FFF2-40B4-BE49-F238E27FC236}">
                <a16:creationId xmlns:a16="http://schemas.microsoft.com/office/drawing/2014/main" id="{F0591C2F-19C9-2F9D-88C7-BDA15158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910" y="1659454"/>
            <a:ext cx="5568175" cy="48646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F1D52D-A40B-33B3-160B-7487F0B43CDF}"/>
              </a:ext>
            </a:extLst>
          </p:cNvPr>
          <p:cNvSpPr txBox="1"/>
          <p:nvPr/>
        </p:nvSpPr>
        <p:spPr>
          <a:xfrm>
            <a:off x="2617739" y="1197789"/>
            <a:ext cx="6956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Building some intuition using a phylogenetic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A47D0-5AD5-AC92-C9BA-D61C491AD8C1}"/>
              </a:ext>
            </a:extLst>
          </p:cNvPr>
          <p:cNvSpPr txBox="1"/>
          <p:nvPr/>
        </p:nvSpPr>
        <p:spPr>
          <a:xfrm>
            <a:off x="0" y="6530684"/>
            <a:ext cx="931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Image source: https://</a:t>
            </a:r>
            <a:r>
              <a:rPr lang="en-US" i="1" dirty="0" err="1"/>
              <a:t>plato.stanford.edu</a:t>
            </a:r>
            <a:r>
              <a:rPr lang="en-US" i="1" dirty="0"/>
              <a:t>/entries/phylogenetic-inference/</a:t>
            </a:r>
          </a:p>
        </p:txBody>
      </p:sp>
    </p:spTree>
    <p:extLst>
      <p:ext uri="{BB962C8B-B14F-4D97-AF65-F5344CB8AC3E}">
        <p14:creationId xmlns:p14="http://schemas.microsoft.com/office/powerpoint/2010/main" val="366901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D776-BEC3-3454-B842-0639952A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Algorithm 1 – Hierarchical Clustering</a:t>
            </a:r>
          </a:p>
        </p:txBody>
      </p:sp>
      <p:pic>
        <p:nvPicPr>
          <p:cNvPr id="3" name="Picture 2" descr="What is a Dendrogram?">
            <a:extLst>
              <a:ext uri="{FF2B5EF4-FFF2-40B4-BE49-F238E27FC236}">
                <a16:creationId xmlns:a16="http://schemas.microsoft.com/office/drawing/2014/main" id="{608330EF-9BDD-D3AF-A11D-9C2AF03D7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199072" cy="40903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816049-F981-4FDE-A703-78A98959F99E}"/>
              </a:ext>
            </a:extLst>
          </p:cNvPr>
          <p:cNvSpPr txBox="1"/>
          <p:nvPr/>
        </p:nvSpPr>
        <p:spPr>
          <a:xfrm>
            <a:off x="0" y="6530684"/>
            <a:ext cx="931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Image source: https://</a:t>
            </a:r>
            <a:r>
              <a:rPr lang="en-US" i="1" dirty="0" err="1"/>
              <a:t>www.displayr.com</a:t>
            </a:r>
            <a:r>
              <a:rPr lang="en-US" i="1" dirty="0"/>
              <a:t>/what-is-dendrogram/</a:t>
            </a:r>
          </a:p>
        </p:txBody>
      </p:sp>
    </p:spTree>
    <p:extLst>
      <p:ext uri="{BB962C8B-B14F-4D97-AF65-F5344CB8AC3E}">
        <p14:creationId xmlns:p14="http://schemas.microsoft.com/office/powerpoint/2010/main" val="3331392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420D-9F14-32A5-3CE4-43CB4B75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slow/fast is this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3D7CA-90C9-2370-1BD3-E81EB5CAF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to look at worst-case scenarios</a:t>
            </a:r>
          </a:p>
          <a:p>
            <a:r>
              <a:rPr lang="en-US" dirty="0"/>
              <a:t>Big-O notation for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2356532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D462-654F-98F9-85CF-2AE4A10E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AAC2-ACFA-A583-EBAB-D61F02889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Big O Notation: A Critical Tool for Modern Software Development">
            <a:extLst>
              <a:ext uri="{FF2B5EF4-FFF2-40B4-BE49-F238E27FC236}">
                <a16:creationId xmlns:a16="http://schemas.microsoft.com/office/drawing/2014/main" id="{C9EBF323-CE70-4BE1-DCCA-7A71B997B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900" y="21516"/>
            <a:ext cx="9960200" cy="647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8E28AA-B3F2-D4B9-9248-11FC7378FC77}"/>
              </a:ext>
            </a:extLst>
          </p:cNvPr>
          <p:cNvSpPr txBox="1"/>
          <p:nvPr/>
        </p:nvSpPr>
        <p:spPr>
          <a:xfrm>
            <a:off x="3622431" y="1799004"/>
            <a:ext cx="844062" cy="36933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3130"/>
                </a:solidFill>
              </a:rPr>
              <a:t>(2^N)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BEFDF-FBA5-B40D-C398-1F1525503E66}"/>
              </a:ext>
            </a:extLst>
          </p:cNvPr>
          <p:cNvSpPr txBox="1"/>
          <p:nvPr/>
        </p:nvSpPr>
        <p:spPr>
          <a:xfrm>
            <a:off x="0" y="6492875"/>
            <a:ext cx="1055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Image source: https://</a:t>
            </a:r>
            <a:r>
              <a:rPr lang="en-US" i="1" dirty="0" err="1"/>
              <a:t>hardik-daim.vercel.app</a:t>
            </a:r>
            <a:r>
              <a:rPr lang="en-US" i="1" dirty="0"/>
              <a:t>/blog/understanding-big-o-notation-for-algorithm-efficiency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FBA83B-090E-9807-B5FD-D48D20063F78}"/>
              </a:ext>
            </a:extLst>
          </p:cNvPr>
          <p:cNvSpPr/>
          <p:nvPr/>
        </p:nvSpPr>
        <p:spPr>
          <a:xfrm>
            <a:off x="4666709" y="1499799"/>
            <a:ext cx="972766" cy="101360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1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D441-91C9-E2D7-62EE-439E0D95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4110"/>
            <a:ext cx="10990385" cy="1325563"/>
          </a:xfrm>
        </p:spPr>
        <p:txBody>
          <a:bodyPr/>
          <a:lstStyle/>
          <a:p>
            <a:r>
              <a:rPr lang="en-US" dirty="0"/>
              <a:t>Let’s do better –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CD550-D255-F96C-5F31-F1208DA4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626"/>
            <a:ext cx="10990384" cy="4802187"/>
          </a:xfrm>
        </p:spPr>
        <p:txBody>
          <a:bodyPr/>
          <a:lstStyle/>
          <a:p>
            <a:r>
              <a:rPr lang="en-US" dirty="0"/>
              <a:t>Pre-algorithm</a:t>
            </a:r>
          </a:p>
          <a:p>
            <a:pPr lvl="1"/>
            <a:r>
              <a:rPr lang="en-US" dirty="0"/>
              <a:t>Define each cluster by a cluster center – </a:t>
            </a:r>
            <a:r>
              <a:rPr lang="en-US" i="1" dirty="0"/>
              <a:t>centroid</a:t>
            </a:r>
          </a:p>
          <a:p>
            <a:pPr lvl="1"/>
            <a:r>
              <a:rPr lang="en-US" dirty="0"/>
              <a:t>Decide a value of </a:t>
            </a:r>
            <a:r>
              <a:rPr lang="en-US" b="1" i="1" dirty="0"/>
              <a:t>k</a:t>
            </a:r>
            <a:r>
              <a:rPr lang="en-US" i="1" dirty="0"/>
              <a:t> </a:t>
            </a:r>
            <a:r>
              <a:rPr lang="en-US" dirty="0"/>
              <a:t>(i.e. how many clusters are in the data?)</a:t>
            </a:r>
          </a:p>
          <a:p>
            <a:r>
              <a:rPr lang="en-US" dirty="0"/>
              <a:t>Initialization</a:t>
            </a:r>
          </a:p>
          <a:p>
            <a:pPr lvl="1"/>
            <a:r>
              <a:rPr lang="en-US" dirty="0"/>
              <a:t>Choose </a:t>
            </a:r>
            <a:r>
              <a:rPr lang="en-US" b="1" i="1" dirty="0"/>
              <a:t>k</a:t>
            </a:r>
            <a:r>
              <a:rPr lang="en-US" i="1" dirty="0"/>
              <a:t> </a:t>
            </a:r>
            <a:r>
              <a:rPr lang="en-US" dirty="0"/>
              <a:t>random points as cluster centers</a:t>
            </a:r>
          </a:p>
          <a:p>
            <a:r>
              <a:rPr lang="en-US" dirty="0"/>
              <a:t>Algorithm:</a:t>
            </a:r>
          </a:p>
          <a:p>
            <a:pPr lvl="1"/>
            <a:r>
              <a:rPr lang="en-US" dirty="0"/>
              <a:t>1 - Calculate distance from data to each cluster center</a:t>
            </a:r>
          </a:p>
          <a:p>
            <a:pPr lvl="1"/>
            <a:r>
              <a:rPr lang="en-US" dirty="0"/>
              <a:t>2 - Assign data to cluster based on proximity</a:t>
            </a:r>
          </a:p>
          <a:p>
            <a:pPr lvl="1"/>
            <a:r>
              <a:rPr lang="en-US" dirty="0"/>
              <a:t>3 - Define new cluster centers as the </a:t>
            </a:r>
            <a:r>
              <a:rPr lang="en-US" b="1" i="1" dirty="0"/>
              <a:t>mean</a:t>
            </a:r>
            <a:r>
              <a:rPr lang="en-US" dirty="0"/>
              <a:t> of data assigned to the cluster</a:t>
            </a:r>
          </a:p>
          <a:p>
            <a:pPr lvl="1"/>
            <a:r>
              <a:rPr lang="en-US" dirty="0"/>
              <a:t>Repeat steps 1-3 until cluster centers don’t change anymore (i.e. the algorithm “</a:t>
            </a:r>
            <a:r>
              <a:rPr lang="en-US" u="sng" dirty="0"/>
              <a:t>converges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21552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B649-5FB1-B6C6-7C56-AC90E51F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1325563"/>
          </a:xfrm>
        </p:spPr>
        <p:txBody>
          <a:bodyPr/>
          <a:lstStyle/>
          <a:p>
            <a:pPr algn="ctr"/>
            <a:r>
              <a:rPr lang="en-US" i="1" dirty="0"/>
              <a:t>k</a:t>
            </a:r>
            <a:r>
              <a:rPr lang="en-US" dirty="0"/>
              <a:t>-means clustering in action</a:t>
            </a:r>
            <a:endParaRPr lang="en-US" i="1" dirty="0"/>
          </a:p>
        </p:txBody>
      </p:sp>
      <p:pic>
        <p:nvPicPr>
          <p:cNvPr id="5" name="Content Placeholder 4" descr="A graph of black dots&#10;&#10;AI-generated content may be incorrect.">
            <a:extLst>
              <a:ext uri="{FF2B5EF4-FFF2-40B4-BE49-F238E27FC236}">
                <a16:creationId xmlns:a16="http://schemas.microsoft.com/office/drawing/2014/main" id="{2CCE8217-8EE8-F1B0-2F9E-30A1BB6A5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19" t="5094" r="6911" b="8002"/>
          <a:stretch>
            <a:fillRect/>
          </a:stretch>
        </p:blipFill>
        <p:spPr>
          <a:xfrm>
            <a:off x="2636874" y="1236434"/>
            <a:ext cx="7217735" cy="55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78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CCDC-F5B2-AA25-395C-7A7054CD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is </a:t>
            </a:r>
            <a:r>
              <a:rPr lang="en-US" i="1" dirty="0"/>
              <a:t>this </a:t>
            </a:r>
            <a:r>
              <a:rPr lang="en-US" dirty="0"/>
              <a:t>algorithm?</a:t>
            </a:r>
          </a:p>
        </p:txBody>
      </p:sp>
      <p:pic>
        <p:nvPicPr>
          <p:cNvPr id="4" name="Picture 2" descr="Big O Notation: A Critical Tool for Modern Software Development">
            <a:extLst>
              <a:ext uri="{FF2B5EF4-FFF2-40B4-BE49-F238E27FC236}">
                <a16:creationId xmlns:a16="http://schemas.microsoft.com/office/drawing/2014/main" id="{AD0AB7D0-BC9D-07DA-C88C-7407090E7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246" y="1406770"/>
            <a:ext cx="8245754" cy="535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7600863-339A-05C0-DBBC-4948BF453C01}"/>
              </a:ext>
            </a:extLst>
          </p:cNvPr>
          <p:cNvSpPr txBox="1">
            <a:spLocks/>
          </p:cNvSpPr>
          <p:nvPr/>
        </p:nvSpPr>
        <p:spPr>
          <a:xfrm>
            <a:off x="838200" y="2901888"/>
            <a:ext cx="25614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4A4A4A"/>
                </a:solidFill>
                <a:latin typeface=""/>
                <a:ea typeface="+mj-ea"/>
                <a:cs typeface="+mj-cs"/>
              </a:defRPr>
            </a:lvl1pPr>
          </a:lstStyle>
          <a:p>
            <a:r>
              <a:rPr lang="en-US" sz="2400" dirty="0"/>
              <a:t>O(n*</a:t>
            </a:r>
            <a:r>
              <a:rPr lang="en-US" sz="2400" i="1" dirty="0"/>
              <a:t>k*d)</a:t>
            </a:r>
          </a:p>
          <a:p>
            <a:endParaRPr lang="en-US" sz="2400" i="1" dirty="0"/>
          </a:p>
          <a:p>
            <a:r>
              <a:rPr lang="en-US" sz="2400" dirty="0"/>
              <a:t>Effectively O(n)</a:t>
            </a:r>
          </a:p>
        </p:txBody>
      </p:sp>
    </p:spTree>
    <p:extLst>
      <p:ext uri="{BB962C8B-B14F-4D97-AF65-F5344CB8AC3E}">
        <p14:creationId xmlns:p14="http://schemas.microsoft.com/office/powerpoint/2010/main" val="2451641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467F-76E1-E56C-154F-7C973078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k-</a:t>
            </a:r>
            <a:r>
              <a:rPr lang="en-US" dirty="0"/>
              <a:t>means clustering in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5871B-0038-9AA4-31E1-81A62B76F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552" y="3189900"/>
            <a:ext cx="11769448" cy="2698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365EF-4A84-F0C7-7EEF-73D9E699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273" y="1428244"/>
            <a:ext cx="4679004" cy="252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04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F625-AA29-27D9-F204-3E2BCDD8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call this function?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11D865-EE19-CFBF-F00B-D6BB3E829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505" y="2107289"/>
            <a:ext cx="11506990" cy="44877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46E9C9-8B51-80E5-143A-34F5831AA4E5}"/>
              </a:ext>
            </a:extLst>
          </p:cNvPr>
          <p:cNvSpPr txBox="1"/>
          <p:nvPr/>
        </p:nvSpPr>
        <p:spPr>
          <a:xfrm>
            <a:off x="1715249" y="1459855"/>
            <a:ext cx="876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This example is from the </a:t>
            </a:r>
            <a:r>
              <a:rPr lang="en-US" sz="2400" b="1" i="1" dirty="0" err="1">
                <a:hlinkClick r:id="rId3"/>
              </a:rPr>
              <a:t>sklearn</a:t>
            </a:r>
            <a:r>
              <a:rPr lang="en-US" sz="2400" b="1" dirty="0">
                <a:hlinkClick r:id="rId3"/>
              </a:rPr>
              <a:t> </a:t>
            </a:r>
            <a:r>
              <a:rPr lang="en-US" sz="2400" b="1" dirty="0" err="1">
                <a:hlinkClick r:id="rId3"/>
              </a:rPr>
              <a:t>KMeans</a:t>
            </a:r>
            <a:r>
              <a:rPr lang="en-US" sz="2400" b="1" dirty="0">
                <a:hlinkClick r:id="rId3"/>
              </a:rPr>
              <a:t> documentation page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63741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F90E-6798-AA40-F9FE-94DBBEF9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note on randomness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2C124-EFBA-6710-BB6B-85FE5210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parts of the code will require you to try different starting points, and explore the randomness of the k-means algorithm</a:t>
            </a:r>
          </a:p>
          <a:p>
            <a:r>
              <a:rPr lang="en-US" dirty="0"/>
              <a:t>The </a:t>
            </a:r>
            <a:r>
              <a:rPr lang="en-US" dirty="0" err="1"/>
              <a:t>numpy.random</a:t>
            </a:r>
            <a:r>
              <a:rPr lang="en-US" dirty="0"/>
              <a:t> module is used to produce this randomness</a:t>
            </a:r>
          </a:p>
          <a:p>
            <a:r>
              <a:rPr lang="en-US" dirty="0"/>
              <a:t>Important parameter in random number generator: seed</a:t>
            </a:r>
          </a:p>
          <a:p>
            <a:r>
              <a:rPr lang="en-US" dirty="0"/>
              <a:t>Different seeds </a:t>
            </a:r>
            <a:r>
              <a:rPr lang="en-US" dirty="0">
                <a:sym typeface="Wingdings" pitchFamily="2" charset="2"/>
              </a:rPr>
              <a:t> Different (random) results</a:t>
            </a:r>
          </a:p>
          <a:p>
            <a:r>
              <a:rPr lang="en-US" dirty="0">
                <a:sym typeface="Wingdings" pitchFamily="2" charset="2"/>
              </a:rPr>
              <a:t>Same seed  Same result [for consistency/reproducibility]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74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5095EB-537B-DE60-184F-7C120B93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coding time: Basic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666D1-5DEF-A562-310D-844FCF04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84017"/>
            <a:ext cx="1051560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Notebook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9E7FD6-2B2C-34EC-E218-FC3D1BA4A698}"/>
              </a:ext>
            </a:extLst>
          </p:cNvPr>
          <p:cNvCxnSpPr>
            <a:cxnSpLocks/>
          </p:cNvCxnSpPr>
          <p:nvPr/>
        </p:nvCxnSpPr>
        <p:spPr>
          <a:xfrm>
            <a:off x="-105509" y="4588119"/>
            <a:ext cx="12660924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406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9EB9903-9D5F-AAB4-A489-BC23FC834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8" y="1938976"/>
            <a:ext cx="5850697" cy="449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2D6142-8CEA-53D2-E950-A3EAE11A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485"/>
            <a:ext cx="10515600" cy="1325563"/>
          </a:xfrm>
        </p:spPr>
        <p:txBody>
          <a:bodyPr/>
          <a:lstStyle/>
          <a:p>
            <a:pPr algn="ctr"/>
            <a:r>
              <a:rPr lang="en-US" i="1" dirty="0"/>
              <a:t>k-</a:t>
            </a:r>
            <a:r>
              <a:rPr lang="en-US" dirty="0"/>
              <a:t>means clustering isn’t perfect</a:t>
            </a:r>
            <a:endParaRPr lang="en-US" i="1" dirty="0"/>
          </a:p>
        </p:txBody>
      </p:sp>
      <p:pic>
        <p:nvPicPr>
          <p:cNvPr id="5" name="Content Placeholder 4" descr="A graph with different colored dots&#10;&#10;AI-generated content may be incorrect.">
            <a:extLst>
              <a:ext uri="{FF2B5EF4-FFF2-40B4-BE49-F238E27FC236}">
                <a16:creationId xmlns:a16="http://schemas.microsoft.com/office/drawing/2014/main" id="{3E0E4F68-3B6D-38F3-7297-A028F5CF6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274" t="7138" r="7255" b="4824"/>
          <a:stretch>
            <a:fillRect/>
          </a:stretch>
        </p:blipFill>
        <p:spPr>
          <a:xfrm>
            <a:off x="6096000" y="1754310"/>
            <a:ext cx="6051453" cy="4674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1995C4-3C2D-F2BD-C47B-39F8950E4704}"/>
              </a:ext>
            </a:extLst>
          </p:cNvPr>
          <p:cNvSpPr txBox="1"/>
          <p:nvPr/>
        </p:nvSpPr>
        <p:spPr>
          <a:xfrm>
            <a:off x="7317026" y="1569644"/>
            <a:ext cx="3839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True grouping (i.e. “</a:t>
            </a:r>
            <a:r>
              <a:rPr lang="en-US" b="1" i="1" dirty="0">
                <a:latin typeface=""/>
              </a:rPr>
              <a:t>Ground Truth</a:t>
            </a:r>
            <a:r>
              <a:rPr lang="en-US" dirty="0">
                <a:latin typeface=""/>
              </a:rPr>
              <a:t>”)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E5BD4A-75FA-39ED-C4EE-2F20BFFEB25F}"/>
              </a:ext>
            </a:extLst>
          </p:cNvPr>
          <p:cNvSpPr/>
          <p:nvPr/>
        </p:nvSpPr>
        <p:spPr>
          <a:xfrm>
            <a:off x="2321169" y="3165231"/>
            <a:ext cx="633046" cy="621323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88F12-7162-C9C6-44AD-CFF6D5800FD0}"/>
              </a:ext>
            </a:extLst>
          </p:cNvPr>
          <p:cNvSpPr txBox="1"/>
          <p:nvPr/>
        </p:nvSpPr>
        <p:spPr>
          <a:xfrm>
            <a:off x="1834222" y="1569644"/>
            <a:ext cx="250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"/>
              </a:rPr>
              <a:t>Clusters from k-means</a:t>
            </a:r>
          </a:p>
        </p:txBody>
      </p:sp>
    </p:spTree>
    <p:extLst>
      <p:ext uri="{BB962C8B-B14F-4D97-AF65-F5344CB8AC3E}">
        <p14:creationId xmlns:p14="http://schemas.microsoft.com/office/powerpoint/2010/main" val="891254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9A66-EE68-9557-601C-854C53A8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choose </a:t>
            </a:r>
            <a:r>
              <a:rPr lang="en-US" i="1" dirty="0"/>
              <a:t>k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2F2B2-E953-4920-62CE-1B710C966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Advance knowledge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“Elbow” method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i="1" dirty="0"/>
              <a:t>Hands-on coding time</a:t>
            </a:r>
            <a:br>
              <a:rPr lang="en-US" i="1" dirty="0"/>
            </a:b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Gap statistic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i="1" dirty="0"/>
              <a:t>Slightly advanced – beyond scope of this lecture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6902A03-2801-0E3A-E290-4C2A31D1E12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706" y="1690688"/>
            <a:ext cx="5645624" cy="452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381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C333-17F1-6CFD-9196-52A197A4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E015C6-D962-411C-1099-657485DC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coding time: Elbow method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0883C-4241-5759-20FD-F2BDABF0E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84017"/>
            <a:ext cx="1051560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Notebook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FB081B-B90D-7D97-4FDC-317D5FA7B70D}"/>
              </a:ext>
            </a:extLst>
          </p:cNvPr>
          <p:cNvCxnSpPr>
            <a:cxnSpLocks/>
          </p:cNvCxnSpPr>
          <p:nvPr/>
        </p:nvCxnSpPr>
        <p:spPr>
          <a:xfrm>
            <a:off x="-105509" y="4588119"/>
            <a:ext cx="12660924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20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108AD0-52D5-DF62-BF45-19217FF4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modifications/improvements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79C6E-4701-2278-8682-D38BF59A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out better starting points</a:t>
            </a:r>
          </a:p>
          <a:p>
            <a:pPr lvl="1"/>
            <a:r>
              <a:rPr lang="en-US" i="1" dirty="0"/>
              <a:t>k-means++ </a:t>
            </a:r>
            <a:r>
              <a:rPr lang="en-US" dirty="0"/>
              <a:t>[This is the default method in </a:t>
            </a:r>
            <a:r>
              <a:rPr lang="en-US" i="1" dirty="0" err="1"/>
              <a:t>sklearn</a:t>
            </a:r>
            <a:r>
              <a:rPr lang="en-US" dirty="0"/>
              <a:t>]</a:t>
            </a:r>
            <a:endParaRPr lang="en-US" i="1" dirty="0"/>
          </a:p>
          <a:p>
            <a:r>
              <a:rPr lang="en-US" dirty="0"/>
              <a:t>Replace “mean” with other measures of central tendency</a:t>
            </a:r>
          </a:p>
          <a:p>
            <a:pPr lvl="1"/>
            <a:r>
              <a:rPr lang="en-US" i="1" dirty="0"/>
              <a:t>k-medians</a:t>
            </a:r>
          </a:p>
          <a:p>
            <a:r>
              <a:rPr lang="en-US" i="1" dirty="0"/>
              <a:t>“Fuzzy” </a:t>
            </a:r>
            <a:r>
              <a:rPr lang="en-US" dirty="0"/>
              <a:t>clustering</a:t>
            </a:r>
          </a:p>
          <a:p>
            <a:pPr lvl="1"/>
            <a:r>
              <a:rPr lang="en-US" dirty="0"/>
              <a:t>Datapoints could belong to more than one cluster</a:t>
            </a:r>
          </a:p>
        </p:txBody>
      </p:sp>
    </p:spTree>
    <p:extLst>
      <p:ext uri="{BB962C8B-B14F-4D97-AF65-F5344CB8AC3E}">
        <p14:creationId xmlns:p14="http://schemas.microsoft.com/office/powerpoint/2010/main" val="731040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9314-DA18-668E-4EA4-3A10271A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25DD-AB04-D910-26FE-B1C81FB30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33485CA-E134-DEB0-C374-B3BB21C41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414"/>
            <a:ext cx="10515600" cy="677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666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3A36-8726-D816-D85B-D1E2D49D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60BD-FE7E-EBA9-738E-A7200A14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what we learned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593B-779D-18A7-1644-4F4B98A4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723"/>
            <a:ext cx="10943492" cy="495715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Clustering is useful to group and/or classify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Elements of a clustering algorithm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Cluster definition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Distance measure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k-means clustering is a fast, efficient way to cluster data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Takes a few milliseconds (timed using </a:t>
            </a:r>
            <a:r>
              <a:rPr lang="en-US" i="1" dirty="0" err="1"/>
              <a:t>timeit</a:t>
            </a:r>
            <a:r>
              <a:rPr lang="en-US" dirty="0"/>
              <a:t>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“Linear”-</a:t>
            </a:r>
            <a:r>
              <a:rPr lang="en-US" dirty="0" err="1"/>
              <a:t>ish</a:t>
            </a:r>
            <a:r>
              <a:rPr lang="en-US" dirty="0"/>
              <a:t> using big-O notation: O(n*k*d)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k-means is guaranteed to converge, but </a:t>
            </a:r>
            <a:r>
              <a:rPr lang="en-US" b="1" i="1" dirty="0"/>
              <a:t>not</a:t>
            </a:r>
            <a:r>
              <a:rPr lang="en-US" dirty="0"/>
              <a:t> to a </a:t>
            </a:r>
            <a:r>
              <a:rPr lang="en-US" i="1" dirty="0"/>
              <a:t>unique</a:t>
            </a:r>
            <a:r>
              <a:rPr lang="en-US" dirty="0"/>
              <a:t>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Choosing </a:t>
            </a:r>
            <a:r>
              <a:rPr lang="en-US" i="1" dirty="0"/>
              <a:t>k</a:t>
            </a:r>
            <a:r>
              <a:rPr lang="en-US" dirty="0"/>
              <a:t> is somewhat subjective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prior domain-specific knowledge (or hierarchical clustering)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“Elbow” method</a:t>
            </a:r>
          </a:p>
        </p:txBody>
      </p:sp>
    </p:spTree>
    <p:extLst>
      <p:ext uri="{BB962C8B-B14F-4D97-AF65-F5344CB8AC3E}">
        <p14:creationId xmlns:p14="http://schemas.microsoft.com/office/powerpoint/2010/main" val="616579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0EF1B-92DB-562D-D0CD-659E99C0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just did some </a:t>
            </a:r>
            <a:r>
              <a:rPr lang="en-US" b="1" dirty="0"/>
              <a:t>machine learning</a:t>
            </a:r>
            <a:r>
              <a:rPr lang="en-US" dirty="0"/>
              <a:t>!!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5F6B3D-3D11-536C-A595-A3838B924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7473" y="2307431"/>
            <a:ext cx="8377054" cy="3568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4F5440-323D-CA0F-4780-FE7BA34C037E}"/>
              </a:ext>
            </a:extLst>
          </p:cNvPr>
          <p:cNvSpPr txBox="1"/>
          <p:nvPr/>
        </p:nvSpPr>
        <p:spPr>
          <a:xfrm>
            <a:off x="0" y="6492875"/>
            <a:ext cx="6600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https://</a:t>
            </a:r>
            <a:r>
              <a:rPr lang="en-US" sz="1400" i="1" dirty="0" err="1"/>
              <a:t>www.mathworks.com</a:t>
            </a:r>
            <a:r>
              <a:rPr lang="en-US" sz="1400" i="1" dirty="0"/>
              <a:t>/discovery/machine-</a:t>
            </a:r>
            <a:r>
              <a:rPr lang="en-US" sz="1400" i="1" dirty="0" err="1"/>
              <a:t>learning.html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18286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64653"/>
      </a:accent1>
      <a:accent2>
        <a:srgbClr val="2A9D8F"/>
      </a:accent2>
      <a:accent3>
        <a:srgbClr val="E9C369"/>
      </a:accent3>
      <a:accent4>
        <a:srgbClr val="F3A261"/>
      </a:accent4>
      <a:accent5>
        <a:srgbClr val="E76F51"/>
      </a:accent5>
      <a:accent6>
        <a:srgbClr val="4EA72E"/>
      </a:accent6>
      <a:hlink>
        <a:srgbClr val="4678BC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4712</TotalTime>
  <Words>785</Words>
  <Application>Microsoft Macintosh PowerPoint</Application>
  <PresentationFormat>Widescreen</PresentationFormat>
  <Paragraphs>122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Courier New</vt:lpstr>
      <vt:lpstr>Wingdings</vt:lpstr>
      <vt:lpstr>Office Theme</vt:lpstr>
      <vt:lpstr>Clustering Algorithms</vt:lpstr>
      <vt:lpstr>Who I am</vt:lpstr>
      <vt:lpstr>PowerPoint Presentation</vt:lpstr>
      <vt:lpstr>National Centre for Biological Sciences (NCBS)</vt:lpstr>
      <vt:lpstr>PowerPoint Presentation</vt:lpstr>
      <vt:lpstr>Zebrafish Purkinje neurons are bistable</vt:lpstr>
      <vt:lpstr>PowerPoint Presentation</vt:lpstr>
      <vt:lpstr>What I’m working on for my postdoc in the Looger lab</vt:lpstr>
      <vt:lpstr>Now for the lecture</vt:lpstr>
      <vt:lpstr>Lesson Objectives</vt:lpstr>
      <vt:lpstr>Do you know John Snow?</vt:lpstr>
      <vt:lpstr>PowerPoint Presentation</vt:lpstr>
      <vt:lpstr>Modern clustering looks very different</vt:lpstr>
      <vt:lpstr>Modern clustering looks very different</vt:lpstr>
      <vt:lpstr>Think-Pair-Share</vt:lpstr>
      <vt:lpstr>Possible ingredients for clustering algorithm</vt:lpstr>
      <vt:lpstr>Algorithm 1 – Hierarchical Clustering</vt:lpstr>
      <vt:lpstr>Algorithm 1 – Hierarchical Clustering</vt:lpstr>
      <vt:lpstr>How slow/fast is this algorithm?</vt:lpstr>
      <vt:lpstr>PowerPoint Presentation</vt:lpstr>
      <vt:lpstr>Let’s do better – k-means clustering</vt:lpstr>
      <vt:lpstr>k-means clustering in action</vt:lpstr>
      <vt:lpstr>How fast is this algorithm?</vt:lpstr>
      <vt:lpstr>k-means clustering in Python</vt:lpstr>
      <vt:lpstr>How do we call this function?</vt:lpstr>
      <vt:lpstr>A quick note on randomness</vt:lpstr>
      <vt:lpstr>Hands-on coding time: Basic k-means</vt:lpstr>
      <vt:lpstr>k-means clustering isn’t perfect</vt:lpstr>
      <vt:lpstr>How do you choose k?</vt:lpstr>
      <vt:lpstr>Hands-on coding time: Elbow method</vt:lpstr>
      <vt:lpstr>Other modifications/improvements</vt:lpstr>
      <vt:lpstr>PowerPoint Presentation</vt:lpstr>
      <vt:lpstr>Summary of what we learned today</vt:lpstr>
      <vt:lpstr>You just did some machine learning!!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Varma, Aalok</dc:creator>
  <cp:lastModifiedBy>Varma, Aalok</cp:lastModifiedBy>
  <cp:revision>163</cp:revision>
  <dcterms:created xsi:type="dcterms:W3CDTF">2026-02-27T21:36:36Z</dcterms:created>
  <dcterms:modified xsi:type="dcterms:W3CDTF">2026-05-16T00:09:03Z</dcterms:modified>
</cp:coreProperties>
</file>