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99" r:id="rId4"/>
    <p:sldId id="284" r:id="rId5"/>
    <p:sldId id="287" r:id="rId6"/>
    <p:sldId id="300" r:id="rId7"/>
    <p:sldId id="301" r:id="rId8"/>
    <p:sldId id="297" r:id="rId9"/>
    <p:sldId id="283" r:id="rId10"/>
    <p:sldId id="288" r:id="rId11"/>
    <p:sldId id="293" r:id="rId12"/>
    <p:sldId id="295" r:id="rId13"/>
    <p:sldId id="296" r:id="rId14"/>
    <p:sldId id="294" r:id="rId15"/>
    <p:sldId id="302" r:id="rId16"/>
    <p:sldId id="303" r:id="rId17"/>
    <p:sldId id="304" r:id="rId18"/>
    <p:sldId id="305" r:id="rId19"/>
    <p:sldId id="306" r:id="rId20"/>
    <p:sldId id="298" r:id="rId21"/>
    <p:sldId id="289" r:id="rId22"/>
    <p:sldId id="292" r:id="rId23"/>
    <p:sldId id="291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3130"/>
    <a:srgbClr val="96607D"/>
    <a:srgbClr val="E76F51"/>
    <a:srgbClr val="2A9D8F"/>
    <a:srgbClr val="4A4A4A"/>
    <a:srgbClr val="3E3E41"/>
    <a:srgbClr val="36454F"/>
    <a:srgbClr val="F2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39"/>
    <p:restoredTop sz="94707"/>
  </p:normalViewPr>
  <p:slideViewPr>
    <p:cSldViewPr snapToGrid="0">
      <p:cViewPr varScale="1">
        <p:scale>
          <a:sx n="66" d="100"/>
          <a:sy n="66" d="100"/>
        </p:scale>
        <p:origin x="224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6213-A62F-E63D-5C9B-78F08E1D3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BC16E-5733-6716-7ED5-F32837340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D55B-934D-4B87-B6E6-ABE7BB0A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5F89D-13BE-47D0-1000-5A14EEBC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071A1-67D5-3609-9B53-1C4E6761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9ABF-BB1C-0F3C-9C2E-A7F43191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7513-4873-5BDC-5C82-72D554533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74DB1-B9D9-78CB-7C6B-DB412822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A204-D1A5-2A41-A383-B30FBB8C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98550-ED0E-C439-26D2-DF7A525C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8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42BB-7ED8-EBA1-729A-7401D028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8EDD5-6E7A-0E21-D6F9-C65422ED0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4017-3235-B16F-9C9B-A53C94F9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01153-B11C-56CA-D2EF-67AD3D7B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4F8C-0D5E-18D0-9F39-9F726262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0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B0B2-C47D-88C6-4F1D-1766C68F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EFA0-80CA-74AE-78AF-E4EDE24F7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00A63-C13A-5D6A-A140-3A2A60C3A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59286-BD03-EBF2-3338-7838973C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3B4D-B5DD-2451-5127-922F0209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6DE09-C025-8DB3-0ADC-864EE2A5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03FE-6ADA-25C8-DAF0-C8D8822B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8F71-5033-307F-284F-483BEC9B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C3167-DD83-A2DA-E31D-D8243F0C7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3990C-10A5-3418-2693-0DFCF8F61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5D0E4-BA2B-B398-0999-D56A4E5CE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AA14C-0AA1-490C-E519-F63A3290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2D05E-D142-F2B7-884D-051E4597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EB2E-FD9B-F699-33D2-9CDFB9DC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9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57C7-5A77-51C2-BF56-2FF1FCC7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8E46-1177-CE01-D790-501DCA27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EFF8C-A663-561D-B1FC-4F3CEA98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239C3-0120-9099-0ADD-A8E6E1CE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0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DAAE7-F48E-5AC1-4069-F8EB6B8A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3E1DE-950F-AF40-2805-57F3A8DB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C5EB9-76FF-F312-C8C5-068B1BA4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13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012C-655A-882E-5ECB-FA907387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01B01-4AD3-D6E3-4F7D-1840ADC6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D1270-30E4-3F32-0E8B-0C7ACB56F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C3DD-94B5-71D8-DA7C-17D25C5F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D11F-6CAA-4728-8DB1-B7D96985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D446-0117-278B-5D1B-8CCFA14E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587D-2B6B-1C43-C0CE-4C47ACCD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3D0BF-5D18-820B-BD1F-62BD794E9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08130-8FAF-57D1-D40F-1B697A89F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87330-C84F-CC3B-6847-A55C7709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5FCCA-6536-64E5-A080-F95933D7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2CF4-103B-C2AA-E2C1-F02E71A2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879C-B559-097B-D818-6C7460BD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AB8D4-56F6-2F15-68C9-B444FC6C9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FEE87-8EBC-C62E-C533-B4DC4E9D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A81B-496E-9940-6DF7-F0255F38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0BB3-19EC-5ACB-3937-D491BC25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0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F74A5-27D8-82A6-3529-6A925E01F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59558-32EB-71D3-099E-3DC69E0EB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84221-1376-1C80-2F79-5247303A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A4D8-29C5-4AC9-7E00-2300D46A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AA55-07F7-8BC1-E184-CC0FFBB0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FED3A-E1A3-B12B-E4A8-F62531A4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D5A8F-5FF2-8917-81F2-929D250B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D4057-8B34-6962-84CE-19F2C0FF2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fld id="{D060B66E-6508-524F-9F72-F783F4A9A610}" type="datetimeFigureOut">
              <a:rPr lang="en-US" smtClean="0"/>
              <a:pPr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C016A-E618-342B-541C-FC02A8B24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5E1FF-6A4E-960A-1CE9-34CC502DB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fld id="{FB59D56F-4DAF-414B-9295-2F77EE51FA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8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A4A4A"/>
          </a:solidFill>
          <a:latin typeface="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datasets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uber.embl.de/msmb/05-chap.html#what-are-the-data-and-why-do-we-cluster-them" TargetMode="External"/><Relationship Id="rId7" Type="http://schemas.openxmlformats.org/officeDocument/2006/relationships/hyperlink" Target="https://seaborn.pydata.org/tutorial/color_palettes.html" TargetMode="External"/><Relationship Id="rId2" Type="http://schemas.openxmlformats.org/officeDocument/2006/relationships/hyperlink" Target="https://ocw.mit.edu/courses/6-0002-introduction-to-computational-thinking-and-data-science-fall-2016/resources/lecture-12-cluster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auto_examples/cluster/plot_cluster_comparison.html" TargetMode="External"/><Relationship Id="rId5" Type="http://schemas.openxmlformats.org/officeDocument/2006/relationships/hyperlink" Target="https://scikit-learn.org/stable/modules/generated/sklearn.cluster.KMeans.html" TargetMode="External"/><Relationship Id="rId4" Type="http://schemas.openxmlformats.org/officeDocument/2006/relationships/hyperlink" Target="https://scikit-learn.org/stable/modules/clustering.html#k-mea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632F-3099-1805-C5DF-F59534601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9485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Clustering Algorithms -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9200D-E36A-40AC-9768-89F56B925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3655"/>
            <a:ext cx="9144000" cy="1714242"/>
          </a:xfrm>
        </p:spPr>
        <p:txBody>
          <a:bodyPr/>
          <a:lstStyle/>
          <a:p>
            <a:r>
              <a:rPr lang="en-US" dirty="0"/>
              <a:t>Aalok Varma, PhD</a:t>
            </a:r>
          </a:p>
          <a:p>
            <a:r>
              <a:rPr lang="en-US" sz="1800" dirty="0"/>
              <a:t>[pronounced </a:t>
            </a:r>
            <a:r>
              <a:rPr lang="en-US" sz="1800" i="1" dirty="0"/>
              <a:t>ah-l-oak</a:t>
            </a:r>
            <a:r>
              <a:rPr lang="en-US" sz="1800" dirty="0"/>
              <a:t>]</a:t>
            </a:r>
          </a:p>
          <a:p>
            <a:r>
              <a:rPr lang="en-US" dirty="0"/>
              <a:t>Postdoctoral Fellow, Loren </a:t>
            </a:r>
            <a:r>
              <a:rPr lang="en-US" dirty="0" err="1"/>
              <a:t>Looger</a:t>
            </a:r>
            <a:r>
              <a:rPr lang="en-US" dirty="0"/>
              <a:t> Lab,</a:t>
            </a:r>
          </a:p>
          <a:p>
            <a:r>
              <a:rPr lang="en-US" dirty="0"/>
              <a:t>Neuroscience Dept, UC San Diego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6CB60F-014F-269A-85A1-BC642720C7B6}"/>
              </a:ext>
            </a:extLst>
          </p:cNvPr>
          <p:cNvCxnSpPr>
            <a:cxnSpLocks/>
          </p:cNvCxnSpPr>
          <p:nvPr/>
        </p:nvCxnSpPr>
        <p:spPr>
          <a:xfrm>
            <a:off x="-106326" y="2267658"/>
            <a:ext cx="12397563" cy="0"/>
          </a:xfrm>
          <a:prstGeom prst="line">
            <a:avLst/>
          </a:prstGeom>
          <a:ln w="571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566350B4-5FCA-6EDC-EFCD-47440F55588D}"/>
              </a:ext>
            </a:extLst>
          </p:cNvPr>
          <p:cNvSpPr txBox="1">
            <a:spLocks/>
          </p:cNvSpPr>
          <p:nvPr/>
        </p:nvSpPr>
        <p:spPr>
          <a:xfrm>
            <a:off x="1676400" y="2422459"/>
            <a:ext cx="9144000" cy="1006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BILD62/WI26</a:t>
            </a:r>
          </a:p>
          <a:p>
            <a:r>
              <a:rPr lang="en-US" dirty="0"/>
              <a:t>May 21, 2026</a:t>
            </a:r>
          </a:p>
        </p:txBody>
      </p:sp>
    </p:spTree>
    <p:extLst>
      <p:ext uri="{BB962C8B-B14F-4D97-AF65-F5344CB8AC3E}">
        <p14:creationId xmlns:p14="http://schemas.microsoft.com/office/powerpoint/2010/main" val="47233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68437E-D17B-7A3A-AC1B-6E86A5D1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EE6662-4E79-DAF6-5693-84949AE6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Recap: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  <a:p>
            <a:pPr fontAlgn="base"/>
            <a:r>
              <a:rPr lang="en-US" dirty="0"/>
              <a:t>Enumerate examples of real-world applications of clustering</a:t>
            </a:r>
          </a:p>
          <a:p>
            <a:pPr fontAlgn="base"/>
            <a:r>
              <a:rPr lang="en-US" dirty="0"/>
              <a:t>Load and explore experimental datasets</a:t>
            </a:r>
          </a:p>
          <a:p>
            <a:pPr fontAlgn="base"/>
            <a:r>
              <a:rPr lang="en-US" dirty="0"/>
              <a:t>Recognize the need for data preprocessing and dimensionality reduction methods</a:t>
            </a:r>
          </a:p>
          <a:p>
            <a:pPr fontAlgn="base"/>
            <a:r>
              <a:rPr lang="en-US" dirty="0"/>
              <a:t>Identify a common dimensionality reduction method, i.e., PCA</a:t>
            </a:r>
          </a:p>
          <a:p>
            <a:pPr fontAlgn="base"/>
            <a:r>
              <a:rPr lang="en-US" dirty="0"/>
              <a:t>Apply </a:t>
            </a:r>
            <a:r>
              <a:rPr lang="en-US" i="1" dirty="0"/>
              <a:t>k</a:t>
            </a:r>
            <a:r>
              <a:rPr lang="en-US" dirty="0"/>
              <a:t>-means clustering to realistic data</a:t>
            </a:r>
          </a:p>
          <a:p>
            <a:pPr fontAlgn="base"/>
            <a:r>
              <a:rPr lang="en-US" dirty="0"/>
              <a:t>Interpret results from clustering analysis</a:t>
            </a:r>
          </a:p>
        </p:txBody>
      </p:sp>
    </p:spTree>
    <p:extLst>
      <p:ext uri="{BB962C8B-B14F-4D97-AF65-F5344CB8AC3E}">
        <p14:creationId xmlns:p14="http://schemas.microsoft.com/office/powerpoint/2010/main" val="113544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hat is a Dendrogram?">
            <a:extLst>
              <a:ext uri="{FF2B5EF4-FFF2-40B4-BE49-F238E27FC236}">
                <a16:creationId xmlns:a16="http://schemas.microsoft.com/office/drawing/2014/main" id="{9FB12487-82CB-8407-6A7F-6F0898EF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57" t="26218"/>
          <a:stretch>
            <a:fillRect/>
          </a:stretch>
        </p:blipFill>
        <p:spPr>
          <a:xfrm>
            <a:off x="693143" y="2039256"/>
            <a:ext cx="5180853" cy="3987800"/>
          </a:xfrm>
          <a:prstGeom prst="rect">
            <a:avLst/>
          </a:prstGeom>
        </p:spPr>
      </p:pic>
      <p:pic>
        <p:nvPicPr>
          <p:cNvPr id="10" name="Content Placeholder 4" descr="A graph of black dots&#10;&#10;AI-generated content may be incorrect.">
            <a:extLst>
              <a:ext uri="{FF2B5EF4-FFF2-40B4-BE49-F238E27FC236}">
                <a16:creationId xmlns:a16="http://schemas.microsoft.com/office/drawing/2014/main" id="{779AEA5E-B4C4-347E-0BBD-268D78CD3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9" t="5094" r="6911" b="8002"/>
          <a:stretch>
            <a:fillRect/>
          </a:stretch>
        </p:blipFill>
        <p:spPr>
          <a:xfrm>
            <a:off x="6144219" y="1822447"/>
            <a:ext cx="5693377" cy="4367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8F5B9-7190-876F-4FED-3983EAFD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Recap: Two common methods of clustering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74609-D9FC-4087-2C69-9E0C6E57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8556"/>
            <a:ext cx="5157787" cy="823912"/>
          </a:xfrm>
        </p:spPr>
        <p:txBody>
          <a:bodyPr anchor="t"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A10E4C-75ED-B7D9-378A-A79EB65E0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8556"/>
            <a:ext cx="5183188" cy="823912"/>
          </a:xfrm>
        </p:spPr>
        <p:txBody>
          <a:bodyPr anchor="t"/>
          <a:lstStyle/>
          <a:p>
            <a:r>
              <a:rPr lang="en-US" i="1" dirty="0"/>
              <a:t>K</a:t>
            </a:r>
            <a:r>
              <a:rPr lang="en-US" dirty="0"/>
              <a:t>-Means Clustering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7381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0EF1B-92DB-562D-D0CD-659E99C0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Clustering is a basic method in </a:t>
            </a:r>
            <a:r>
              <a:rPr lang="en-US" sz="3600" b="1" dirty="0"/>
              <a:t>machine learning</a:t>
            </a:r>
            <a:endParaRPr lang="en-US" sz="36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5F6B3D-3D11-536C-A595-A3838B924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7473" y="2307431"/>
            <a:ext cx="8377054" cy="356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4F5440-323D-CA0F-4780-FE7BA34C037E}"/>
              </a:ext>
            </a:extLst>
          </p:cNvPr>
          <p:cNvSpPr txBox="1"/>
          <p:nvPr/>
        </p:nvSpPr>
        <p:spPr>
          <a:xfrm>
            <a:off x="0" y="6492875"/>
            <a:ext cx="6600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https://</a:t>
            </a:r>
            <a:r>
              <a:rPr lang="en-US" sz="1400" i="1" dirty="0" err="1"/>
              <a:t>www.mathworks.com</a:t>
            </a:r>
            <a:r>
              <a:rPr lang="en-US" sz="1400" i="1" dirty="0"/>
              <a:t>/discovery/machine-</a:t>
            </a:r>
            <a:r>
              <a:rPr lang="en-US" sz="1400" i="1" dirty="0" err="1"/>
              <a:t>learning.html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18286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551199-0E24-C3C7-92FC-E8C223D5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37"/>
          <a:stretch>
            <a:fillRect/>
          </a:stretch>
        </p:blipFill>
        <p:spPr>
          <a:xfrm>
            <a:off x="5638267" y="2602232"/>
            <a:ext cx="5436020" cy="40388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810C8-4A9F-2D22-4514-47D18885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91" b="62029"/>
          <a:stretch>
            <a:fillRect/>
          </a:stretch>
        </p:blipFill>
        <p:spPr>
          <a:xfrm>
            <a:off x="558686" y="2602232"/>
            <a:ext cx="4800068" cy="41522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5E815-4E64-41A4-3E99-C9D37532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70" y="365125"/>
            <a:ext cx="1134386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Real-world applications of clustering 1: Neuroscience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8932-D3F3-2FDE-3BA6-7BEF4FCC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11"/>
            <a:ext cx="10515600" cy="4351338"/>
          </a:xfrm>
        </p:spPr>
        <p:txBody>
          <a:bodyPr/>
          <a:lstStyle/>
          <a:p>
            <a:pPr fontAlgn="base"/>
            <a:r>
              <a:rPr lang="en-US" dirty="0"/>
              <a:t>Hierarchical clustering of neural activity imaging data reveals groups of neurons/brain regions that are co-regulated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14E29-B8A6-B40F-EB27-F71709B9BBC5}"/>
              </a:ext>
            </a:extLst>
          </p:cNvPr>
          <p:cNvSpPr txBox="1"/>
          <p:nvPr/>
        </p:nvSpPr>
        <p:spPr>
          <a:xfrm>
            <a:off x="0" y="6492875"/>
            <a:ext cx="660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Panier et al. (2013)</a:t>
            </a:r>
          </a:p>
        </p:txBody>
      </p:sp>
    </p:spTree>
    <p:extLst>
      <p:ext uri="{BB962C8B-B14F-4D97-AF65-F5344CB8AC3E}">
        <p14:creationId xmlns:p14="http://schemas.microsoft.com/office/powerpoint/2010/main" val="62347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0449-8A75-39C2-9FDA-1638B20B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D17E79-617F-30AA-033D-091A971B3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34394"/>
            <a:ext cx="4568687" cy="51783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26E203-3A4B-B3F9-3269-87E0F57B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70" y="255458"/>
            <a:ext cx="1134386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Real-world applications of clustering 2: </a:t>
            </a:r>
            <a:r>
              <a:rPr lang="en-US" sz="3600" dirty="0" err="1"/>
              <a:t>RNAseq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69E9-7E99-BB3F-4383-1AB573815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227" y="1916112"/>
            <a:ext cx="4568687" cy="4351338"/>
          </a:xfrm>
        </p:spPr>
        <p:txBody>
          <a:bodyPr/>
          <a:lstStyle/>
          <a:p>
            <a:pPr fontAlgn="base"/>
            <a:r>
              <a:rPr lang="en-US" dirty="0"/>
              <a:t>Find groups of genes</a:t>
            </a:r>
          </a:p>
          <a:p>
            <a:pPr marL="0" indent="0" fontAlgn="base">
              <a:buNone/>
            </a:pPr>
            <a:r>
              <a:rPr lang="en-US" dirty="0"/>
              <a:t>that are co-regulated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470E9-5B55-5815-5D63-DF6707739932}"/>
              </a:ext>
            </a:extLst>
          </p:cNvPr>
          <p:cNvSpPr txBox="1"/>
          <p:nvPr/>
        </p:nvSpPr>
        <p:spPr>
          <a:xfrm>
            <a:off x="0" y="6602541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https://</a:t>
            </a:r>
            <a:r>
              <a:rPr lang="en-US" sz="1400" i="1" dirty="0" err="1"/>
              <a:t>bioinformatics.ccr.cancer.gov</a:t>
            </a:r>
            <a:r>
              <a:rPr lang="en-US" sz="1400" i="1" dirty="0"/>
              <a:t>/docs/data-visualization-with-r/Lesson5_intro_to_ggplot/</a:t>
            </a:r>
          </a:p>
        </p:txBody>
      </p:sp>
    </p:spTree>
    <p:extLst>
      <p:ext uri="{BB962C8B-B14F-4D97-AF65-F5344CB8AC3E}">
        <p14:creationId xmlns:p14="http://schemas.microsoft.com/office/powerpoint/2010/main" val="169551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C12C-2C9D-4873-6689-033BEDF8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B6ED-13D7-1D8B-5988-ABB7450B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70" y="365125"/>
            <a:ext cx="1134386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Real-world applications of clustering 3: Image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7A9A5-9651-FD6E-534E-4E485B0AAC74}"/>
              </a:ext>
            </a:extLst>
          </p:cNvPr>
          <p:cNvSpPr txBox="1"/>
          <p:nvPr/>
        </p:nvSpPr>
        <p:spPr>
          <a:xfrm>
            <a:off x="0" y="6602541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nrsyed.com</a:t>
            </a:r>
            <a:r>
              <a:rPr lang="en-US" sz="1400" dirty="0"/>
              <a:t>/2018/03/29/image-segmentation-via-k-means-clustering-with-</a:t>
            </a:r>
            <a:r>
              <a:rPr lang="en-US" sz="1400" dirty="0" err="1"/>
              <a:t>opencv</a:t>
            </a:r>
            <a:r>
              <a:rPr lang="en-US" sz="1400" dirty="0"/>
              <a:t>-python/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9D661D-1EDD-5982-F474-CBCECED55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15" y="1690688"/>
            <a:ext cx="8694885" cy="4220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52D086-BCC3-8F75-47C7-DF8DB0045971}"/>
              </a:ext>
            </a:extLst>
          </p:cNvPr>
          <p:cNvSpPr txBox="1"/>
          <p:nvPr/>
        </p:nvSpPr>
        <p:spPr>
          <a:xfrm>
            <a:off x="3116403" y="5887691"/>
            <a:ext cx="1864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Original 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11A24-F062-E2AE-1950-96B08EB3690B}"/>
              </a:ext>
            </a:extLst>
          </p:cNvPr>
          <p:cNvSpPr txBox="1"/>
          <p:nvPr/>
        </p:nvSpPr>
        <p:spPr>
          <a:xfrm>
            <a:off x="7462381" y="5905869"/>
            <a:ext cx="227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Segmented image</a:t>
            </a:r>
          </a:p>
        </p:txBody>
      </p:sp>
    </p:spTree>
    <p:extLst>
      <p:ext uri="{BB962C8B-B14F-4D97-AF65-F5344CB8AC3E}">
        <p14:creationId xmlns:p14="http://schemas.microsoft.com/office/powerpoint/2010/main" val="113024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72A021-3E6A-8366-AF1B-65D6AE5C7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6679"/>
            <a:ext cx="7772400" cy="458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5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468DBE-4B79-F734-F9B3-888D08DD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0 – Know the data!!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EA9733-3624-5708-F621-54EA8409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8322129" cy="4351338"/>
          </a:xfrm>
        </p:spPr>
        <p:txBody>
          <a:bodyPr/>
          <a:lstStyle/>
          <a:p>
            <a:r>
              <a:rPr lang="en-US" dirty="0"/>
              <a:t>Source: Wisconsin Breast Cancer Data</a:t>
            </a:r>
          </a:p>
          <a:p>
            <a:r>
              <a:rPr lang="en-US" dirty="0"/>
              <a:t>Fine needle aspirate (FNA) of a breast mass</a:t>
            </a:r>
          </a:p>
          <a:p>
            <a:r>
              <a:rPr lang="en-US" dirty="0"/>
              <a:t>Stain </a:t>
            </a:r>
            <a:r>
              <a:rPr lang="en-US" dirty="0">
                <a:sym typeface="Wingdings" pitchFamily="2" charset="2"/>
              </a:rPr>
              <a:t> Digitize nuclei of cells</a:t>
            </a:r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ECB4CD2C-D77C-91B5-2B01-448630172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35" y="3330093"/>
            <a:ext cx="6579486" cy="352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820C27A-E3D8-F1D0-E441-D8390FF27B14}"/>
              </a:ext>
            </a:extLst>
          </p:cNvPr>
          <p:cNvSpPr txBox="1">
            <a:spLocks/>
          </p:cNvSpPr>
          <p:nvPr/>
        </p:nvSpPr>
        <p:spPr>
          <a:xfrm>
            <a:off x="7142984" y="3469642"/>
            <a:ext cx="4935415" cy="3897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Extracted nucleus parameters:</a:t>
            </a:r>
          </a:p>
          <a:p>
            <a:r>
              <a:rPr lang="en-US" sz="2400" dirty="0"/>
              <a:t>Radius</a:t>
            </a:r>
          </a:p>
          <a:p>
            <a:r>
              <a:rPr lang="en-US" sz="2400" dirty="0"/>
              <a:t>Perimeter</a:t>
            </a:r>
          </a:p>
          <a:p>
            <a:r>
              <a:rPr lang="en-US" sz="2400" dirty="0"/>
              <a:t>Area</a:t>
            </a:r>
          </a:p>
          <a:p>
            <a:r>
              <a:rPr lang="en-US" sz="2400" dirty="0"/>
              <a:t>Smoothness</a:t>
            </a:r>
          </a:p>
          <a:p>
            <a:r>
              <a:rPr lang="en-US" sz="2400" dirty="0"/>
              <a:t>Texture</a:t>
            </a:r>
          </a:p>
          <a:p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2908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4537-63A7-D8E7-4306-01EF84FA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– Explore and visualize the data</a:t>
            </a:r>
          </a:p>
        </p:txBody>
      </p:sp>
      <p:pic>
        <p:nvPicPr>
          <p:cNvPr id="16388" name="Picture 4" descr="png">
            <a:extLst>
              <a:ext uri="{FF2B5EF4-FFF2-40B4-BE49-F238E27FC236}">
                <a16:creationId xmlns:a16="http://schemas.microsoft.com/office/drawing/2014/main" id="{35317E88-17A0-FAF7-5117-D40C5F16D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71"/>
          <a:stretch>
            <a:fillRect/>
          </a:stretch>
        </p:blipFill>
        <p:spPr bwMode="auto">
          <a:xfrm>
            <a:off x="498229" y="1503119"/>
            <a:ext cx="6031523" cy="453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6C25A3-4A7C-C9EE-C3B6-3F8195E644DA}"/>
              </a:ext>
            </a:extLst>
          </p:cNvPr>
          <p:cNvSpPr txBox="1"/>
          <p:nvPr/>
        </p:nvSpPr>
        <p:spPr>
          <a:xfrm>
            <a:off x="1690415" y="61235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"/>
              </a:rPr>
              <a:t>Histograms to look at distributions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82553617-726A-F27E-0DEA-DC5D4070E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213" y="1591778"/>
            <a:ext cx="5083550" cy="453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6831F-F543-6F61-B2DD-FA24E5C11C1A}"/>
              </a:ext>
            </a:extLst>
          </p:cNvPr>
          <p:cNvSpPr txBox="1"/>
          <p:nvPr/>
        </p:nvSpPr>
        <p:spPr>
          <a:xfrm>
            <a:off x="7759888" y="6123543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"/>
              </a:rPr>
              <a:t>Correlations between variables</a:t>
            </a:r>
          </a:p>
        </p:txBody>
      </p:sp>
    </p:spTree>
    <p:extLst>
      <p:ext uri="{BB962C8B-B14F-4D97-AF65-F5344CB8AC3E}">
        <p14:creationId xmlns:p14="http://schemas.microsoft.com/office/powerpoint/2010/main" val="33204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771D-91CC-CFF1-17B8-0DA4AE2F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– Preprocess the data (if needed)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214D-B870-6851-AD8B-2CF67163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3021"/>
          </a:xfrm>
        </p:spPr>
        <p:txBody>
          <a:bodyPr/>
          <a:lstStyle/>
          <a:p>
            <a:r>
              <a:rPr lang="en-US" dirty="0"/>
              <a:t>For today, I have run ”Principal Components Analysis” (PCA) on a subset of the data</a:t>
            </a:r>
          </a:p>
        </p:txBody>
      </p:sp>
    </p:spTree>
    <p:extLst>
      <p:ext uri="{BB962C8B-B14F-4D97-AF65-F5344CB8AC3E}">
        <p14:creationId xmlns:p14="http://schemas.microsoft.com/office/powerpoint/2010/main" val="118264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7800-E994-B1F1-9500-B6132862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PCA, and why do we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9C0B8-CC18-76AB-E15F-26F2D1F65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 = Principal Components Analysis</a:t>
            </a:r>
          </a:p>
          <a:p>
            <a:r>
              <a:rPr lang="en-US" dirty="0"/>
              <a:t>Method of dimensionality reduction</a:t>
            </a:r>
          </a:p>
          <a:p>
            <a:pPr lvl="1"/>
            <a:r>
              <a:rPr lang="en-US" dirty="0"/>
              <a:t>Data in real life is multi-dimensional (3 or more independent variables)</a:t>
            </a:r>
          </a:p>
          <a:p>
            <a:pPr lvl="1"/>
            <a:r>
              <a:rPr lang="en-US" dirty="0"/>
              <a:t>Humans can’t visualize this large-scale data (we’re limited up to 3D)</a:t>
            </a:r>
          </a:p>
          <a:p>
            <a:pPr lvl="1"/>
            <a:r>
              <a:rPr lang="en-US" dirty="0"/>
              <a:t>Dimensionality reduction tries to compress n-dimensional data into 2D or 3D</a:t>
            </a:r>
          </a:p>
          <a:p>
            <a:r>
              <a:rPr lang="en-US" dirty="0"/>
              <a:t>As the name suggests, we’re trying to extract the main (“principal”) components of all the variation in the data</a:t>
            </a:r>
          </a:p>
        </p:txBody>
      </p:sp>
    </p:spTree>
    <p:extLst>
      <p:ext uri="{BB962C8B-B14F-4D97-AF65-F5344CB8AC3E}">
        <p14:creationId xmlns:p14="http://schemas.microsoft.com/office/powerpoint/2010/main" val="3551305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EBD5-FB24-28F9-1976-E465E6A9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what PCA does (intuition)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F443EF-231A-2BD7-A2C5-44A1B5B60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5716"/>
            <a:ext cx="10515600" cy="41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E98E8-A6E5-B059-00D1-75698489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D5FF02-186F-38F3-29CD-17688231A091}"/>
              </a:ext>
            </a:extLst>
          </p:cNvPr>
          <p:cNvSpPr txBox="1">
            <a:spLocks/>
          </p:cNvSpPr>
          <p:nvPr/>
        </p:nvSpPr>
        <p:spPr>
          <a:xfrm>
            <a:off x="838200" y="131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4A4A4A"/>
                </a:solidFill>
                <a:latin typeface=""/>
                <a:ea typeface="+mj-ea"/>
                <a:cs typeface="+mj-cs"/>
              </a:defRPr>
            </a:lvl1pPr>
          </a:lstStyle>
          <a:p>
            <a:r>
              <a:rPr lang="en-US" dirty="0"/>
              <a:t>Step 3 – Cluster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8B1774-E48E-F9F6-FB0B-E36600E35942}"/>
              </a:ext>
            </a:extLst>
          </p:cNvPr>
          <p:cNvSpPr txBox="1">
            <a:spLocks/>
          </p:cNvSpPr>
          <p:nvPr/>
        </p:nvSpPr>
        <p:spPr>
          <a:xfrm>
            <a:off x="838200" y="1626588"/>
            <a:ext cx="10515600" cy="1703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B5E9C-94B4-9335-FAFF-CFAB20FF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method you’ll use</a:t>
            </a:r>
          </a:p>
          <a:p>
            <a:r>
              <a:rPr lang="en-US" dirty="0"/>
              <a:t>Choose your parameters</a:t>
            </a:r>
          </a:p>
          <a:p>
            <a:endParaRPr lang="en-US" dirty="0"/>
          </a:p>
          <a:p>
            <a:r>
              <a:rPr lang="en-US" dirty="0"/>
              <a:t>There are all things </a:t>
            </a:r>
            <a:r>
              <a:rPr lang="en-US" i="1" dirty="0"/>
              <a:t>you</a:t>
            </a:r>
            <a:r>
              <a:rPr lang="en-US" dirty="0"/>
              <a:t> get to decide, as a researcher</a:t>
            </a:r>
          </a:p>
        </p:txBody>
      </p:sp>
    </p:spTree>
    <p:extLst>
      <p:ext uri="{BB962C8B-B14F-4D97-AF65-F5344CB8AC3E}">
        <p14:creationId xmlns:p14="http://schemas.microsoft.com/office/powerpoint/2010/main" val="4255767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C9D4-C2AF-AA20-38C6-F5774901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Brief intro to new plotting package - Seaborn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C4BCC-B3FA-3BD3-B9F9-6C18D3F3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83" y="1363245"/>
            <a:ext cx="6880234" cy="535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1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FDAB-DAD6-BA45-C229-B2E37A75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EEDE-D7BE-5C44-266F-71E449E5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Brief intro to new plotting package - Seaborn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A48EF-F25C-71EB-683B-51C111BB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529" b="38948"/>
          <a:stretch>
            <a:fillRect/>
          </a:stretch>
        </p:blipFill>
        <p:spPr>
          <a:xfrm>
            <a:off x="391358" y="1892968"/>
            <a:ext cx="4726074" cy="4186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03B54D-14A9-9F64-3EA3-6A5406CF0B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988"/>
          <a:stretch>
            <a:fillRect/>
          </a:stretch>
        </p:blipFill>
        <p:spPr>
          <a:xfrm>
            <a:off x="4544784" y="2494546"/>
            <a:ext cx="7416278" cy="27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52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567E-DD0F-C221-C15C-7E6FFB54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9A4EAC-27DD-B1DC-9F4E-EB477EC5E5D0}"/>
              </a:ext>
            </a:extLst>
          </p:cNvPr>
          <p:cNvSpPr txBox="1">
            <a:spLocks/>
          </p:cNvSpPr>
          <p:nvPr/>
        </p:nvSpPr>
        <p:spPr>
          <a:xfrm>
            <a:off x="838200" y="5163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4A4A4A"/>
                </a:solidFill>
                <a:latin typeface=""/>
                <a:ea typeface="+mj-ea"/>
                <a:cs typeface="+mj-cs"/>
              </a:defRPr>
            </a:lvl1pPr>
          </a:lstStyle>
          <a:p>
            <a:r>
              <a:rPr lang="en-US" dirty="0"/>
              <a:t>Hands on coding time!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9F646C-BA43-DFD1-FF9D-75894B2D55EF}"/>
              </a:ext>
            </a:extLst>
          </p:cNvPr>
          <p:cNvSpPr txBox="1">
            <a:spLocks/>
          </p:cNvSpPr>
          <p:nvPr/>
        </p:nvSpPr>
        <p:spPr>
          <a:xfrm>
            <a:off x="838200" y="1626588"/>
            <a:ext cx="10515600" cy="1703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Notebook 2</a:t>
            </a:r>
          </a:p>
        </p:txBody>
      </p:sp>
    </p:spTree>
    <p:extLst>
      <p:ext uri="{BB962C8B-B14F-4D97-AF65-F5344CB8AC3E}">
        <p14:creationId xmlns:p14="http://schemas.microsoft.com/office/powerpoint/2010/main" val="627677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FE32-2449-6A5F-49F1-5EF0E0F3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Contingency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730F-6081-A3CF-DDD6-C257E14F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‘cross-tabulation’</a:t>
            </a:r>
          </a:p>
          <a:p>
            <a:r>
              <a:rPr lang="en-US" dirty="0"/>
              <a:t>Special case: Confusion matrix</a:t>
            </a:r>
          </a:p>
        </p:txBody>
      </p:sp>
      <p:pic>
        <p:nvPicPr>
          <p:cNvPr id="4" name="Picture 3" descr="EyeColorContTable">
            <a:extLst>
              <a:ext uri="{FF2B5EF4-FFF2-40B4-BE49-F238E27FC236}">
                <a16:creationId xmlns:a16="http://schemas.microsoft.com/office/drawing/2014/main" id="{B798FA13-DCA4-BF25-99B4-5176F4667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17" y="3760663"/>
            <a:ext cx="7847885" cy="222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0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F47E-3452-CD26-6896-EBA5FC2C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C40E-A94A-CEC5-C8DB-69E1BC23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Confusion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C8A20-82A3-0049-D64C-61DD108FB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D817F-C72F-163B-D33A-40C99FF9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9" t="26398"/>
          <a:stretch>
            <a:fillRect/>
          </a:stretch>
        </p:blipFill>
        <p:spPr>
          <a:xfrm>
            <a:off x="2435325" y="1758156"/>
            <a:ext cx="732134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98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9FBA-C66B-B6D6-71A0-6E7700DD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 to ask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4ECE-9429-8777-BD68-4929251B7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clusters are in the data? How do I know?</a:t>
            </a:r>
          </a:p>
          <a:p>
            <a:r>
              <a:rPr lang="en-US" dirty="0"/>
              <a:t>Is there a biological significance for each of these clusters?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71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1A91-1BAC-BFC7-4A52-75391A5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what we learned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07F1-166B-EE58-349B-D3912B564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43492" cy="4957152"/>
          </a:xfrm>
        </p:spPr>
        <p:txBody>
          <a:bodyPr>
            <a:normAutofit/>
          </a:bodyPr>
          <a:lstStyle/>
          <a:p>
            <a:r>
              <a:rPr lang="en-US" dirty="0"/>
              <a:t>Clustering algorithms find many real-world applications</a:t>
            </a:r>
          </a:p>
          <a:p>
            <a:r>
              <a:rPr lang="en-US" dirty="0"/>
              <a:t>You don’t just take some data and simply “cluster” it</a:t>
            </a:r>
          </a:p>
          <a:p>
            <a:r>
              <a:rPr lang="en-US" dirty="0"/>
              <a:t>You need to: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Understand how the data were acquired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Explore the data – variables, data types,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Visualize the data (if possible)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Pre-process the data</a:t>
            </a:r>
          </a:p>
          <a:p>
            <a:r>
              <a:rPr lang="en-US" dirty="0"/>
              <a:t>Only then are you ready to apply clustering algorithms</a:t>
            </a:r>
          </a:p>
          <a:p>
            <a:r>
              <a:rPr lang="en-US" dirty="0"/>
              <a:t>Always double- and triple-check that your results make sense</a:t>
            </a:r>
          </a:p>
        </p:txBody>
      </p:sp>
    </p:spTree>
    <p:extLst>
      <p:ext uri="{BB962C8B-B14F-4D97-AF65-F5344CB8AC3E}">
        <p14:creationId xmlns:p14="http://schemas.microsoft.com/office/powerpoint/2010/main" val="4279809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347D-07B5-E145-EDDC-94F8FFB0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ideas for further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DE79-6BEC-B952-8CD8-DFF9D295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out some different toy datasets</a:t>
            </a:r>
          </a:p>
          <a:p>
            <a:pPr lvl="1"/>
            <a:r>
              <a:rPr lang="en-US" i="1" dirty="0" err="1"/>
              <a:t>sklearn</a:t>
            </a:r>
            <a:r>
              <a:rPr lang="en-US" i="1" dirty="0"/>
              <a:t> </a:t>
            </a:r>
            <a:r>
              <a:rPr lang="en-US" dirty="0"/>
              <a:t>has many datasets by default: </a:t>
            </a:r>
            <a:r>
              <a:rPr lang="en-US" dirty="0">
                <a:hlinkClick r:id="rId2"/>
              </a:rPr>
              <a:t>https://scikit-learn.org/stable/datasets.html</a:t>
            </a:r>
            <a:r>
              <a:rPr lang="en-US" dirty="0"/>
              <a:t> </a:t>
            </a:r>
          </a:p>
          <a:p>
            <a:r>
              <a:rPr lang="en-US" dirty="0"/>
              <a:t>Explore some real datasets</a:t>
            </a:r>
          </a:p>
          <a:p>
            <a:pPr lvl="1"/>
            <a:r>
              <a:rPr lang="en-US" dirty="0"/>
              <a:t>Kaggle – Website with data science challenges</a:t>
            </a:r>
          </a:p>
          <a:p>
            <a:pPr lvl="1"/>
            <a:r>
              <a:rPr lang="en-US" dirty="0"/>
              <a:t>Ask me/other lab folks for some real data</a:t>
            </a:r>
          </a:p>
          <a:p>
            <a:r>
              <a:rPr lang="en-US" dirty="0"/>
              <a:t>Try other clustering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222591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5115-95E6-146D-3B8C-302A6292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63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Neuromatch</a:t>
            </a:r>
            <a:r>
              <a:rPr lang="en-US" dirty="0"/>
              <a:t> Academy courses</a:t>
            </a:r>
          </a:p>
        </p:txBody>
      </p:sp>
      <p:pic>
        <p:nvPicPr>
          <p:cNvPr id="15364" name="Picture 4" descr="Upcoming Events – Canadian Association for Neuroscience">
            <a:extLst>
              <a:ext uri="{FF2B5EF4-FFF2-40B4-BE49-F238E27FC236}">
                <a16:creationId xmlns:a16="http://schemas.microsoft.com/office/drawing/2014/main" id="{0319C909-528C-65C3-94A8-49B624DF9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315" y="1481198"/>
            <a:ext cx="7731369" cy="434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45C92BC-8608-F5C5-B3D2-08D39D464A06}"/>
              </a:ext>
            </a:extLst>
          </p:cNvPr>
          <p:cNvSpPr txBox="1">
            <a:spLocks/>
          </p:cNvSpPr>
          <p:nvPr/>
        </p:nvSpPr>
        <p:spPr>
          <a:xfrm>
            <a:off x="838200" y="56064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4A4A4A"/>
                </a:solidFill>
                <a:latin typeface="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Apply by March 15, 2026</a:t>
            </a:r>
          </a:p>
        </p:txBody>
      </p:sp>
    </p:spTree>
    <p:extLst>
      <p:ext uri="{BB962C8B-B14F-4D97-AF65-F5344CB8AC3E}">
        <p14:creationId xmlns:p14="http://schemas.microsoft.com/office/powerpoint/2010/main" val="4045846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0BF6-1DDB-C014-9006-BCF63BAD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BFB83-11A2-BCA7-E253-10D9FB8C7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Introduction to Computation and Programming Using Python – John Guttag</a:t>
            </a:r>
            <a:endParaRPr lang="en-US" u="sng" dirty="0">
              <a:hlinkClick r:id="rId2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2"/>
              </a:rPr>
              <a:t>https://ocw.mit.edu/courses/6-0002-introduction-to-computational-thinking-and-data-science-fall-2016/resources/lecture-12-clustering/</a:t>
            </a:r>
            <a:r>
              <a:rPr lang="en-US" dirty="0"/>
              <a:t>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https://www.mathworks.com/discovery/clustering.html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https://www.huber.embl.de/msmb/05-chap.html#what-are-the-data-and-why-do-we-cluster-the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4"/>
              </a:rPr>
              <a:t>https://scikit-learn.org/stable/modules/clustering.html#k-means</a:t>
            </a:r>
            <a:r>
              <a:rPr lang="en-US" dirty="0"/>
              <a:t>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5"/>
              </a:rPr>
              <a:t>https://scikit-learn.org/stable/modules/generated/sklearn.cluster.KMeans.html</a:t>
            </a:r>
            <a:r>
              <a:rPr lang="en-US" dirty="0"/>
              <a:t>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linkClick r:id="rId6"/>
              </a:rPr>
              <a:t>https://scikit-learn.org/stable/auto_examples/cluster/plot_cluster_comparison.html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u="sng" dirty="0">
                <a:highlight>
                  <a:srgbClr val="FFFF00"/>
                </a:highlight>
                <a:hlinkClick r:id="rId7"/>
              </a:rPr>
              <a:t>https://seaborn.pydata.org/tutorial/color_palettes.html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9689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64653"/>
      </a:accent1>
      <a:accent2>
        <a:srgbClr val="2A9D8F"/>
      </a:accent2>
      <a:accent3>
        <a:srgbClr val="E9C369"/>
      </a:accent3>
      <a:accent4>
        <a:srgbClr val="F3A261"/>
      </a:accent4>
      <a:accent5>
        <a:srgbClr val="E76F51"/>
      </a:accent5>
      <a:accent6>
        <a:srgbClr val="4EA72E"/>
      </a:accent6>
      <a:hlink>
        <a:srgbClr val="4678BC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4751</TotalTime>
  <Words>732</Words>
  <Application>Microsoft Macintosh PowerPoint</Application>
  <PresentationFormat>Widescreen</PresentationFormat>
  <Paragraphs>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Wingdings</vt:lpstr>
      <vt:lpstr>Office Theme</vt:lpstr>
      <vt:lpstr>Clustering Algorithms - II</vt:lpstr>
      <vt:lpstr>Lesson Objectives</vt:lpstr>
      <vt:lpstr>Recap: Two common methods of clustering</vt:lpstr>
      <vt:lpstr>Clustering is a basic method in machine learning</vt:lpstr>
      <vt:lpstr>Real-world applications of clustering 1: Neuroscience</vt:lpstr>
      <vt:lpstr>Real-world applications of clustering 2: RNAseq</vt:lpstr>
      <vt:lpstr>Real-world applications of clustering 3: Image Analysis</vt:lpstr>
      <vt:lpstr>PowerPoint Presentation</vt:lpstr>
      <vt:lpstr>Step 0 – Know the data!!</vt:lpstr>
      <vt:lpstr>Step 1 – Explore and visualize the data</vt:lpstr>
      <vt:lpstr>Step 2 – Preprocess the data (if needed)</vt:lpstr>
      <vt:lpstr>What is PCA, and why do we need it?</vt:lpstr>
      <vt:lpstr>Visualizing what PCA does (intuition)</vt:lpstr>
      <vt:lpstr>PowerPoint Presentation</vt:lpstr>
      <vt:lpstr>Brief intro to new plotting package - Seaborn</vt:lpstr>
      <vt:lpstr>Brief intro to new plotting package - Seaborn</vt:lpstr>
      <vt:lpstr>PowerPoint Presentation</vt:lpstr>
      <vt:lpstr>Contingency tables</vt:lpstr>
      <vt:lpstr>Special case: Confusion matrix</vt:lpstr>
      <vt:lpstr>Some questions to ask yourself</vt:lpstr>
      <vt:lpstr>Summary of what we learned today</vt:lpstr>
      <vt:lpstr>Some ideas for further exploration</vt:lpstr>
      <vt:lpstr>Neuromatch Academy courses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Varma, Aalok</dc:creator>
  <cp:lastModifiedBy>Varma, Aalok</cp:lastModifiedBy>
  <cp:revision>210</cp:revision>
  <dcterms:created xsi:type="dcterms:W3CDTF">2026-02-27T21:36:36Z</dcterms:created>
  <dcterms:modified xsi:type="dcterms:W3CDTF">2026-05-16T00:33:03Z</dcterms:modified>
</cp:coreProperties>
</file>